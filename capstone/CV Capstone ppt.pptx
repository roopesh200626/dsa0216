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82" r:id="rId2"/>
    <p:sldId id="257" r:id="rId3"/>
    <p:sldId id="258" r:id="rId4"/>
    <p:sldId id="289" r:id="rId5"/>
    <p:sldId id="260" r:id="rId6"/>
    <p:sldId id="278" r:id="rId7"/>
    <p:sldId id="261" r:id="rId8"/>
    <p:sldId id="284" r:id="rId9"/>
    <p:sldId id="266" r:id="rId10"/>
    <p:sldId id="281" r:id="rId11"/>
    <p:sldId id="290" r:id="rId12"/>
    <p:sldId id="292" r:id="rId13"/>
    <p:sldId id="285" r:id="rId14"/>
    <p:sldId id="291" r:id="rId15"/>
    <p:sldId id="267" r:id="rId16"/>
    <p:sldId id="268" r:id="rId17"/>
    <p:sldId id="293" r:id="rId18"/>
    <p:sldId id="26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6EC1"/>
    <a:srgbClr val="76C14A"/>
    <a:srgbClr val="77BF51"/>
    <a:srgbClr val="F061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presProps" Target="pres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DBADD-932B-4596-A355-251BF23B9297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28079-84C6-4215-AE29-94561CBFE2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911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28079-84C6-4215-AE29-94561CBFE26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572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E9601-DC73-6887-7172-AF68AFCFB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01D099-2DA6-C32D-C9FB-F9DE3C8917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5B91AB-0CA2-3AE5-2240-7B40D0D5E5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2FB16-9A40-FEA4-B237-91C6CF7666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5FC8-D62D-4274-8F8E-4CCCBE3A6B6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750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E5036-2548-5B3F-605D-9C2605801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AF919D-9675-EC6B-1BEB-034D32D400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4E0486-84C3-C9E2-075E-2CBA5EF25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0AA24-7367-FDD7-9FEE-A8C7E81343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5FC8-D62D-4274-8F8E-4CCCBE3A6B66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9093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04375-4434-BC69-D11A-2ADCB8610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2E296A-2905-3021-46AE-DC4DF8DF9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43842-D45B-FED8-2482-4DAC6CF2E6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A5DB6-AA8E-8028-BB95-205A693B43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5FC8-D62D-4274-8F8E-4CCCBE3A6B6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080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947DF-CAE0-BE09-9978-7B54782E2D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05D9D9-7B79-76AF-EA75-FD624FA04C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C9A40-69D7-3182-F6D3-4084F82CC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EFA2-500F-4423-BBB5-FAD3713F73E1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9E1D0-099C-724A-1510-3250B7E09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EF75C-D87B-187F-6525-168B7B966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322ED-111F-47A8-B4BC-1ACE6F112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724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52E3F-6131-C738-AB6E-A4E5E0DD8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DD573-7D8E-AE05-6BD1-84973DC54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708EC-ADE7-7A61-8CD5-EA1D366E9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EFA2-500F-4423-BBB5-FAD3713F73E1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9D2C2-D7E8-DCC1-C7F8-2C96AAD8F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FD8AB-1D8E-1EDF-94CB-0ED701E8A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322ED-111F-47A8-B4BC-1ACE6F112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065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5E101-CEF5-EDBE-B9AE-441A88D2C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95432-0CDB-44CB-17CC-B9364E20B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6F51A-65D1-D158-C54C-63CD0CD57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EFA2-500F-4423-BBB5-FAD3713F73E1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8841C-1672-B15F-6602-E5A599046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53A6A-8FBF-D42F-EE69-D1B210E81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322ED-111F-47A8-B4BC-1ACE6F112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83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2789C-2799-67F6-3D92-1935E6A3A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1B77D-66B6-A316-AC9A-3C0E63D3EE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02EB85-2402-18FF-6AD2-AD140C2015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DF23AD-62F7-EBCE-77A1-BC4BE49EA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EFA2-500F-4423-BBB5-FAD3713F73E1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8F6DB8-2EB7-76DC-D5C5-A93B1DDA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8891F-1A7C-A912-4255-46EAB2ED8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322ED-111F-47A8-B4BC-1ACE6F112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909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FFB3-E1D5-21A4-336F-350165A23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634DC8-2EB0-A7D4-3ED5-B2D7DCFCA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649178-0AE4-BC83-FEF3-088B27CDC1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B28CD6-947B-3206-A9AC-A68DDB268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1129D2-0688-4DC0-1C3A-F945BAC9A6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343113-E36A-DF77-D201-D5E126732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EFA2-500F-4423-BBB5-FAD3713F73E1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D44603-B4AC-DAA2-37E5-451C2F8D0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95FAE-B1BA-FD7C-F706-D089C4E47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322ED-111F-47A8-B4BC-1ACE6F112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6206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05672-B470-2B1A-F9A5-EABEC33C0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E91AD7-C609-0287-E4CF-75200FFBF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EFA2-500F-4423-BBB5-FAD3713F73E1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3821EE-47FC-F0BE-604F-782D7A7A6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40855F-4461-88A3-E71A-CEE595F91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322ED-111F-47A8-B4BC-1ACE6F112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382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E99AD0-5AA9-D2AF-84D0-75214F226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EFA2-500F-4423-BBB5-FAD3713F73E1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4D8A35-1977-B912-5B53-F6A2DDC99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CCF22-14DB-F856-E433-6145986F0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322ED-111F-47A8-B4BC-1ACE6F112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681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CB70-EB34-EF1B-5EB4-781CF1D43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0C724-CD84-3D9F-E7C5-E51E447FB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F8B16-F2C1-2E05-FAE1-25B5FB83CF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B6C8C-92E8-B81B-9286-BF641820C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EFA2-500F-4423-BBB5-FAD3713F73E1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DAFEBD-A70A-47F5-1B23-A1F1051C9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B6C3C2-4025-6AC8-5830-E042A85D8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322ED-111F-47A8-B4BC-1ACE6F112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4756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0FCDC-80F9-E782-4E65-AB998B5D5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AA15E4-EAFC-93E2-A2D5-54FD40DF2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AC0A8-41A4-9AFD-1DAE-9452DED0A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06ABE9-62F1-B901-E5E0-0A8D35133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EFA2-500F-4423-BBB5-FAD3713F73E1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E9F60C-27E2-145C-DBD1-DEC420680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464CAF-076D-4AF0-3117-E2E4CB2FB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322ED-111F-47A8-B4BC-1ACE6F112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544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1ED4C-6D93-6DBB-8F5A-112B80F90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A41879-7D42-47AA-60C3-49F7F2A124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B6C56-CDCE-C9E5-10DB-9E9528A40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EFA2-500F-4423-BBB5-FAD3713F73E1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76002-EAC7-A7A4-E85A-B9A1B0A87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7AAE5-7CA3-14E9-47FB-FA33EFD93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322ED-111F-47A8-B4BC-1ACE6F112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599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A785A9-4197-3397-0DFD-E86F0F1AA4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BE51F-FBD0-9F47-1D2E-529EBB28BD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C968B-A719-837F-5B9C-1E16EB7E6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EFA2-500F-4423-BBB5-FAD3713F73E1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EE6E9-BEEE-E278-1089-9C11C195C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57490-6078-68C5-0542-AA148CAB0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322ED-111F-47A8-B4BC-1ACE6F112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902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B5A7AE-B3B7-747B-468A-D76F0892E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3F63F-503A-3303-7850-7303DF75F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5D11E-DD29-CC3E-CF62-B507F9E4AE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0CEFA2-500F-4423-BBB5-FAD3713F73E1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E6E82-9906-3561-37F7-4EE562D54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4A770-763D-915C-555A-817B40D83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C322ED-111F-47A8-B4BC-1ACE6F112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30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7.jpe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8.png" /><Relationship Id="rId4" Type="http://schemas.openxmlformats.org/officeDocument/2006/relationships/image" Target="../media/image4.jpe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6.jpe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0.png" /><Relationship Id="rId4" Type="http://schemas.openxmlformats.org/officeDocument/2006/relationships/image" Target="../media/image9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6.jpe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2.png" /><Relationship Id="rId4" Type="http://schemas.openxmlformats.org/officeDocument/2006/relationships/image" Target="../media/image11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3.pn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6.jpe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5.png" /><Relationship Id="rId4" Type="http://schemas.openxmlformats.org/officeDocument/2006/relationships/image" Target="../media/image14.png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D06398F-C2FB-C8A9-57B4-3E598FEB3E7D}"/>
              </a:ext>
            </a:extLst>
          </p:cNvPr>
          <p:cNvSpPr txBox="1">
            <a:spLocks/>
          </p:cNvSpPr>
          <p:nvPr/>
        </p:nvSpPr>
        <p:spPr>
          <a:xfrm>
            <a:off x="786305" y="2951417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b="1" dirty="0">
                <a:latin typeface="Times" panose="02020603050405020304" pitchFamily="18" charset="0"/>
                <a:cs typeface="Times" panose="02020603050405020304" pitchFamily="18" charset="0"/>
              </a:rPr>
              <a:t>Vision-Based Early Screening and Risk Classification of Parkinson’s Disease Using Hand Tremor Analysis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DFAFBD-852C-8A60-D702-B132C08CD10B}"/>
              </a:ext>
            </a:extLst>
          </p:cNvPr>
          <p:cNvSpPr txBox="1">
            <a:spLocks/>
          </p:cNvSpPr>
          <p:nvPr/>
        </p:nvSpPr>
        <p:spPr>
          <a:xfrm>
            <a:off x="1755141" y="4964620"/>
            <a:ext cx="6207759" cy="1752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Students:</a:t>
            </a:r>
          </a:p>
          <a:p>
            <a:pPr algn="l"/>
            <a:r>
              <a:rPr lang="it-IT" sz="18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PAVAN KUMAR (192424295)</a:t>
            </a:r>
          </a:p>
          <a:p>
            <a:pPr algn="l"/>
            <a:r>
              <a:rPr lang="it-IT" sz="18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ROOPESH REDDY (192424340)</a:t>
            </a:r>
          </a:p>
          <a:p>
            <a:pPr algn="l"/>
            <a:r>
              <a:rPr lang="it-IT" sz="18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YUVAN CHARAN(192424383)</a:t>
            </a:r>
          </a:p>
          <a:p>
            <a:pPr algn="l"/>
            <a:r>
              <a:rPr lang="it-IT" sz="18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</a:t>
            </a:r>
            <a:endParaRPr lang="fi-FI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US" sz="1800" b="1" spc="-1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US"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r>
              <a:rPr lang="en-US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B6AE0F-40AA-76EA-4C2E-37BC4FE3ACCF}"/>
              </a:ext>
            </a:extLst>
          </p:cNvPr>
          <p:cNvSpPr txBox="1"/>
          <p:nvPr/>
        </p:nvSpPr>
        <p:spPr>
          <a:xfrm>
            <a:off x="7019605" y="4964620"/>
            <a:ext cx="3365726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it-IT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Guides:</a:t>
            </a:r>
          </a:p>
          <a:p>
            <a:pPr>
              <a:lnSpc>
                <a:spcPct val="150000"/>
              </a:lnSpc>
            </a:pPr>
            <a:r>
              <a:rPr lang="it-IT" b="1" spc="-10" dirty="0">
                <a:latin typeface="Times New Roman"/>
                <a:cs typeface="Times New Roman"/>
              </a:rPr>
              <a:t>Dr. SENTHILVADIVU S</a:t>
            </a:r>
          </a:p>
          <a:p>
            <a:pPr>
              <a:lnSpc>
                <a:spcPct val="150000"/>
              </a:lnSpc>
            </a:pPr>
            <a:r>
              <a:rPr lang="it-IT" b="1" spc="-10" dirty="0">
                <a:latin typeface="Times New Roman"/>
                <a:cs typeface="Times New Roman"/>
              </a:rPr>
              <a:t>Dr.KUMARAGURUBARAN T</a:t>
            </a:r>
            <a:endParaRPr lang="it-IT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it-IT" b="1" spc="-1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CAA39E-4F45-A703-7E6A-76588D70B06A}"/>
              </a:ext>
            </a:extLst>
          </p:cNvPr>
          <p:cNvSpPr txBox="1"/>
          <p:nvPr/>
        </p:nvSpPr>
        <p:spPr>
          <a:xfrm>
            <a:off x="1678653" y="2568792"/>
            <a:ext cx="8706678" cy="539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DSA0216 – COMPUTER VISION WITH OPENCV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F4BDE8-FF28-192B-8753-A42525DA2D89}"/>
              </a:ext>
            </a:extLst>
          </p:cNvPr>
          <p:cNvSpPr txBox="1"/>
          <p:nvPr/>
        </p:nvSpPr>
        <p:spPr>
          <a:xfrm>
            <a:off x="2866897" y="1827792"/>
            <a:ext cx="62020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</a:t>
            </a:r>
            <a:endParaRPr lang="en-IN" sz="300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396A15B6-C999-D308-3711-5FCC34D7B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878263"/>
            <a:ext cx="7124700" cy="0"/>
          </a:xfrm>
          <a:prstGeom prst="rect">
            <a:avLst/>
          </a:prstGeom>
          <a:solidFill>
            <a:srgbClr val="EF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E910B519-AC63-2B1F-964C-AC2E27926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8782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E180B94E-6934-97E3-9F7C-63C902880F6B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86422" y="264712"/>
            <a:ext cx="10962967" cy="130484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Freeform 3">
            <a:extLst>
              <a:ext uri="{FF2B5EF4-FFF2-40B4-BE49-F238E27FC236}">
                <a16:creationId xmlns:a16="http://schemas.microsoft.com/office/drawing/2014/main" id="{AC363962-9FF9-56B3-7E3A-39CBBAFCFF00}"/>
              </a:ext>
            </a:extLst>
          </p:cNvPr>
          <p:cNvSpPr/>
          <p:nvPr/>
        </p:nvSpPr>
        <p:spPr>
          <a:xfrm flipH="1">
            <a:off x="5922186" y="4648355"/>
            <a:ext cx="45719" cy="2037147"/>
          </a:xfrm>
          <a:custGeom>
            <a:avLst/>
            <a:gdLst/>
            <a:ahLst/>
            <a:cxnLst/>
            <a:rect l="l" t="t" r="r" b="b"/>
            <a:pathLst>
              <a:path w="47625" h="2037147">
                <a:moveTo>
                  <a:pt x="0" y="0"/>
                </a:moveTo>
                <a:lnTo>
                  <a:pt x="47625" y="0"/>
                </a:lnTo>
                <a:lnTo>
                  <a:pt x="47625" y="2037148"/>
                </a:lnTo>
                <a:lnTo>
                  <a:pt x="0" y="2037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006512" r="-1876782" b="-2006512"/>
            </a:stretch>
          </a:blipFill>
        </p:spPr>
      </p:sp>
    </p:spTree>
    <p:extLst>
      <p:ext uri="{BB962C8B-B14F-4D97-AF65-F5344CB8AC3E}">
        <p14:creationId xmlns:p14="http://schemas.microsoft.com/office/powerpoint/2010/main" val="2743763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6BFCA52-AF1A-6FF1-105D-04D4F4C311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5411" y="701675"/>
            <a:ext cx="2267140" cy="452437"/>
          </a:xfrm>
        </p:spPr>
        <p:txBody>
          <a:bodyPr tIns="12700" rtlCol="0">
            <a:no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2800" b="1" spc="-1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ABSTRACT</a:t>
            </a:r>
          </a:p>
        </p:txBody>
      </p:sp>
      <p:pic>
        <p:nvPicPr>
          <p:cNvPr id="3075" name="object 3">
            <a:extLst>
              <a:ext uri="{FF2B5EF4-FFF2-40B4-BE49-F238E27FC236}">
                <a16:creationId xmlns:a16="http://schemas.microsoft.com/office/drawing/2014/main" id="{FFC61E58-D103-6441-2CF4-5B20245B5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347663"/>
            <a:ext cx="1135063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object 4">
            <a:extLst>
              <a:ext uri="{FF2B5EF4-FFF2-40B4-BE49-F238E27FC236}">
                <a16:creationId xmlns:a16="http://schemas.microsoft.com/office/drawing/2014/main" id="{361A5DB5-3B34-C99A-3764-DE5B76F66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0" y="482600"/>
            <a:ext cx="1519238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92C40834-A024-4231-82C4-5F15E9FBF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00" y="1897279"/>
            <a:ext cx="11151997" cy="4613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Parkinson’s Disease is a progressive neurological disorder that affects body movement and often causes hand tremors in the early stages.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This project uses a real-time vision-based system that allows contactless and non-invasive screening using a normal webcam.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MediaPipe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framework is used to detect and track hand landmarks to monitor tremor movements accurately.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Important tremor features such as amplitude and dominant frequency are extracted using motion analysis and Fast Fourier Transform (FFT).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A Support Vector Machine (SVM) model is trained to classify subjects into normal or Parkinson’s risk categories based on extracted features.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Combining computer vision, signal processing, and machine learning creates an efficient, low-cost, and automated early screening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5992" y="486977"/>
            <a:ext cx="10972800" cy="1068990"/>
          </a:xfrm>
        </p:spPr>
        <p:txBody>
          <a:bodyPr>
            <a:normAutofit/>
          </a:bodyPr>
          <a:lstStyle/>
          <a:p>
            <a:r>
              <a:rPr lang="en-US" sz="28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8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NTRODUCTION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4534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AutoShape 2" descr="Image of ">
            <a:extLst>
              <a:ext uri="{FF2B5EF4-FFF2-40B4-BE49-F238E27FC236}">
                <a16:creationId xmlns:a16="http://schemas.microsoft.com/office/drawing/2014/main" id="{03250C77-AF39-225C-1FCB-E9D90F0430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2" descr="Image of ">
            <a:extLst>
              <a:ext uri="{FF2B5EF4-FFF2-40B4-BE49-F238E27FC236}">
                <a16:creationId xmlns:a16="http://schemas.microsoft.com/office/drawing/2014/main" id="{20E8FCB3-2E9D-576A-AB54-DC4B5D2CDC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Image of ">
            <a:extLst>
              <a:ext uri="{FF2B5EF4-FFF2-40B4-BE49-F238E27FC236}">
                <a16:creationId xmlns:a16="http://schemas.microsoft.com/office/drawing/2014/main" id="{F6D36045-3A75-1119-2AF7-20B18990A5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361C86-CFDF-380F-02DA-880CE3FBE322}"/>
              </a:ext>
            </a:extLst>
          </p:cNvPr>
          <p:cNvSpPr txBox="1"/>
          <p:nvPr/>
        </p:nvSpPr>
        <p:spPr>
          <a:xfrm>
            <a:off x="721135" y="1829861"/>
            <a:ext cx="7163233" cy="419755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Parkinson’s Disease is a progressive neurological disorder that affects movement and commonly causes hand tremors in early stages.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Early detection of tremor symptoms can help improve treatment planning and slow disease progression.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Vision-based analysis allows contactless and non-invasive tremor monitoring using a simple webcam.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Tremor features such as amplitude and frequency are extracted to understand movement patterns.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Machine learning using Support Vector Machine (SVM) classifies subjects into Normal and Parkinson’s Risk categories.</a:t>
            </a:r>
          </a:p>
        </p:txBody>
      </p:sp>
      <p:pic>
        <p:nvPicPr>
          <p:cNvPr id="2052" name="Picture 4" descr="What is Parkinson's Disease | Parkinson's Disease Treatment">
            <a:extLst>
              <a:ext uri="{FF2B5EF4-FFF2-40B4-BE49-F238E27FC236}">
                <a16:creationId xmlns:a16="http://schemas.microsoft.com/office/drawing/2014/main" id="{40D1A4DC-466C-67E1-52A4-40BC05308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9763" y="1938009"/>
            <a:ext cx="4258302" cy="3981261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2DD2F-DE9D-ACA5-A53B-99C7B0CCF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A9F56E6-E169-D623-96AD-06D484B557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21273" y="792956"/>
            <a:ext cx="4393519" cy="452437"/>
          </a:xfrm>
        </p:spPr>
        <p:txBody>
          <a:bodyPr tIns="12700" rtlCol="0">
            <a:norm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IN" sz="28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sz="2800"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73908B2-40C5-6E1A-8F83-AF7D8CCDC550}"/>
              </a:ext>
            </a:extLst>
          </p:cNvPr>
          <p:cNvSpPr txBox="1"/>
          <p:nvPr/>
        </p:nvSpPr>
        <p:spPr>
          <a:xfrm>
            <a:off x="1362075" y="1805078"/>
            <a:ext cx="9467850" cy="5052922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To develop a vision-based system for detecting hand tremors using a standard camera without wearable sensors.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To implement </a:t>
            </a:r>
            <a:r>
              <a:rPr lang="en-US" dirty="0" err="1">
                <a:latin typeface="Times" panose="02020603050405020304" pitchFamily="18" charset="0"/>
                <a:cs typeface="Times" panose="02020603050405020304" pitchFamily="18" charset="0"/>
              </a:rPr>
              <a:t>MediaPipe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-based hand landmark tracking for accurate motion capture and tremor monitoring.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To extract important tremor features such as amplitude and frequency using signal processing techniques.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To generate a structured real-time dataset by automatically storing calculated tremor parameters.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To train and apply a Support Vector Machine (SVM) model for classifying subjects into normal and Parkinson’s risk categories.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To design an efficient, low-cost, and non-invasive early screening framework for Parkinson’s disease.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5124" name="object 4">
            <a:extLst>
              <a:ext uri="{FF2B5EF4-FFF2-40B4-BE49-F238E27FC236}">
                <a16:creationId xmlns:a16="http://schemas.microsoft.com/office/drawing/2014/main" id="{EEF81A6E-E016-0F65-6EB8-BC97A9FA1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347663"/>
            <a:ext cx="1135063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object 5">
            <a:extLst>
              <a:ext uri="{FF2B5EF4-FFF2-40B4-BE49-F238E27FC236}">
                <a16:creationId xmlns:a16="http://schemas.microsoft.com/office/drawing/2014/main" id="{30F5E9EF-1B59-6A2D-59EA-F70B1CBF1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0" y="347663"/>
            <a:ext cx="1519238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9532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8F972-1D59-875F-7CC0-CD85D7FE3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CC0D5C9-46C2-880C-3248-8EA1B9CEF338}"/>
              </a:ext>
            </a:extLst>
          </p:cNvPr>
          <p:cNvSpPr txBox="1">
            <a:spLocks/>
          </p:cNvSpPr>
          <p:nvPr/>
        </p:nvSpPr>
        <p:spPr>
          <a:xfrm>
            <a:off x="3871789" y="522922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E9E1F0-B310-4515-F562-318B956B26D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179214-8D53-DE62-F173-5EE2250E5CD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AutoShape 2" descr="Image of ">
            <a:extLst>
              <a:ext uri="{FF2B5EF4-FFF2-40B4-BE49-F238E27FC236}">
                <a16:creationId xmlns:a16="http://schemas.microsoft.com/office/drawing/2014/main" id="{4F4494D9-F5B0-A239-238B-BC0819A0E0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2" descr="Image of ">
            <a:extLst>
              <a:ext uri="{FF2B5EF4-FFF2-40B4-BE49-F238E27FC236}">
                <a16:creationId xmlns:a16="http://schemas.microsoft.com/office/drawing/2014/main" id="{2D148CE9-1D3A-DDAD-24EC-BE76C74DB6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C141CF-FCE9-DFF0-75C9-E1CB5F89EE39}"/>
              </a:ext>
            </a:extLst>
          </p:cNvPr>
          <p:cNvSpPr txBox="1"/>
          <p:nvPr/>
        </p:nvSpPr>
        <p:spPr>
          <a:xfrm>
            <a:off x="1529317" y="1866784"/>
            <a:ext cx="9133366" cy="388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Parkinson’s disease causes hand tremors, especially in early stages.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Early tremors are small and difficult to detect with normal observation.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Many diagnosis methods require expensive medical equipment.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There is a need for a simple, low-cost, and non-invasive detection system using a camera.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Hand movements must be converted into numerical values like amplitude and frequency.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Noise and large voluntary movements must be removed for accurate analysis.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A machine learning model is required to classify the tremor as normal or Parkinson’s risk.</a:t>
            </a:r>
          </a:p>
        </p:txBody>
      </p:sp>
    </p:spTree>
    <p:extLst>
      <p:ext uri="{BB962C8B-B14F-4D97-AF65-F5344CB8AC3E}">
        <p14:creationId xmlns:p14="http://schemas.microsoft.com/office/powerpoint/2010/main" val="3006319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B9F01C6-9294-0F5B-E754-C8E43D0B4670}"/>
              </a:ext>
            </a:extLst>
          </p:cNvPr>
          <p:cNvSpPr txBox="1">
            <a:spLocks/>
          </p:cNvSpPr>
          <p:nvPr/>
        </p:nvSpPr>
        <p:spPr>
          <a:xfrm rot="16200000">
            <a:off x="-3643417" y="3300355"/>
            <a:ext cx="7886700" cy="6430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b="1">
                <a:latin typeface="Times" panose="02020603050405020304" pitchFamily="18" charset="0"/>
                <a:cs typeface="Times" panose="02020603050405020304" pitchFamily="18" charset="0"/>
              </a:rPr>
              <a:t>LITERATURE REVIEW 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B91FE38-F7EE-D149-B455-3B26FFD818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9704929"/>
              </p:ext>
            </p:extLst>
          </p:nvPr>
        </p:nvGraphicFramePr>
        <p:xfrm>
          <a:off x="621454" y="1"/>
          <a:ext cx="11570546" cy="6858000"/>
        </p:xfrm>
        <a:graphic>
          <a:graphicData uri="http://schemas.openxmlformats.org/drawingml/2006/table">
            <a:tbl>
              <a:tblPr/>
              <a:tblGrid>
                <a:gridCol w="641261">
                  <a:extLst>
                    <a:ext uri="{9D8B030D-6E8A-4147-A177-3AD203B41FA5}">
                      <a16:colId xmlns:a16="http://schemas.microsoft.com/office/drawing/2014/main" val="3295059944"/>
                    </a:ext>
                  </a:extLst>
                </a:gridCol>
                <a:gridCol w="2431241">
                  <a:extLst>
                    <a:ext uri="{9D8B030D-6E8A-4147-A177-3AD203B41FA5}">
                      <a16:colId xmlns:a16="http://schemas.microsoft.com/office/drawing/2014/main" val="3384997640"/>
                    </a:ext>
                  </a:extLst>
                </a:gridCol>
                <a:gridCol w="1525744">
                  <a:extLst>
                    <a:ext uri="{9D8B030D-6E8A-4147-A177-3AD203B41FA5}">
                      <a16:colId xmlns:a16="http://schemas.microsoft.com/office/drawing/2014/main" val="3703384494"/>
                    </a:ext>
                  </a:extLst>
                </a:gridCol>
                <a:gridCol w="1989694">
                  <a:extLst>
                    <a:ext uri="{9D8B030D-6E8A-4147-A177-3AD203B41FA5}">
                      <a16:colId xmlns:a16="http://schemas.microsoft.com/office/drawing/2014/main" val="1624121605"/>
                    </a:ext>
                  </a:extLst>
                </a:gridCol>
                <a:gridCol w="1933968">
                  <a:extLst>
                    <a:ext uri="{9D8B030D-6E8A-4147-A177-3AD203B41FA5}">
                      <a16:colId xmlns:a16="http://schemas.microsoft.com/office/drawing/2014/main" val="2587100213"/>
                    </a:ext>
                  </a:extLst>
                </a:gridCol>
                <a:gridCol w="1522894">
                  <a:extLst>
                    <a:ext uri="{9D8B030D-6E8A-4147-A177-3AD203B41FA5}">
                      <a16:colId xmlns:a16="http://schemas.microsoft.com/office/drawing/2014/main" val="3996815135"/>
                    </a:ext>
                  </a:extLst>
                </a:gridCol>
                <a:gridCol w="1525744">
                  <a:extLst>
                    <a:ext uri="{9D8B030D-6E8A-4147-A177-3AD203B41FA5}">
                      <a16:colId xmlns:a16="http://schemas.microsoft.com/office/drawing/2014/main" val="355618406"/>
                    </a:ext>
                  </a:extLst>
                </a:gridCol>
              </a:tblGrid>
              <a:tr h="5152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 &amp; 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Algorithm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Addressed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029823"/>
                  </a:ext>
                </a:extLst>
              </a:tr>
              <a:tr h="14504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Wearable Sensor-Based Tremor Detection</a:t>
                      </a:r>
                      <a:endParaRPr lang="en-US" sz="14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Ahmed et al., 2020</a:t>
                      </a:r>
                      <a:endParaRPr lang="en-IN" sz="14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Accelerometer Sensors</a:t>
                      </a:r>
                      <a:endParaRPr lang="en-IN" sz="14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Motion measurement using wearable devices</a:t>
                      </a:r>
                      <a:endParaRPr lang="en-US" sz="14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Accurate physical motion capture</a:t>
                      </a:r>
                      <a:endParaRPr lang="en-US" sz="14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Accurate physical motion capture</a:t>
                      </a:r>
                      <a:endParaRPr lang="en-US" sz="14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809320"/>
                  </a:ext>
                </a:extLst>
              </a:tr>
              <a:tr h="1092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ANN-Based Parkinson’s Classification</a:t>
                      </a:r>
                      <a:endParaRPr lang="en-US" sz="14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Patel &amp; Rao, 2022</a:t>
                      </a:r>
                      <a:endParaRPr lang="en-IN" sz="14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Artificial Neural Network (ANN)</a:t>
                      </a:r>
                      <a:endParaRPr lang="en-IN" sz="14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Tremor classification</a:t>
                      </a:r>
                      <a:endParaRPr lang="en-US" sz="14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High learning capability</a:t>
                      </a:r>
                      <a:endParaRPr lang="en-US" sz="14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Requires large dataset and high computation</a:t>
                      </a:r>
                      <a:endParaRPr lang="en-US" sz="14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4811808"/>
                  </a:ext>
                </a:extLst>
              </a:tr>
              <a:tr h="11038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Statistical Feature-Based Tremor Analysis</a:t>
                      </a:r>
                      <a:endParaRPr lang="en-US" sz="14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Patel &amp; Rao, 2022</a:t>
                      </a:r>
                      <a:endParaRPr lang="en-IN" sz="14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Artificial Neural Network (ANN)</a:t>
                      </a:r>
                      <a:endParaRPr lang="en-IN" sz="14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Tremor classification</a:t>
                      </a:r>
                      <a:endParaRPr lang="en-US" sz="14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Simple implementation</a:t>
                      </a:r>
                      <a:endParaRPr lang="en-US" sz="14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No real-time detection and low classification accuracy</a:t>
                      </a:r>
                      <a:endParaRPr lang="en-US" sz="14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3846190"/>
                  </a:ext>
                </a:extLst>
              </a:tr>
              <a:tr h="12439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Frequency Based Tremor Detection</a:t>
                      </a:r>
                      <a:endParaRPr lang="en-US" sz="14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Kumar &amp; Singh, 2021</a:t>
                      </a:r>
                      <a:endParaRPr lang="en-IN" sz="14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FFT</a:t>
                      </a:r>
                      <a:endParaRPr lang="en-IN" sz="14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Frequency estimation</a:t>
                      </a:r>
                      <a:endParaRPr lang="en-US" sz="14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Good frequency analysis</a:t>
                      </a:r>
                      <a:endParaRPr lang="en-IN" sz="14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Ignores amplitude and motion variation features</a:t>
                      </a:r>
                      <a:endParaRPr lang="en-US" sz="14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631032"/>
                  </a:ext>
                </a:extLst>
              </a:tr>
              <a:tr h="14522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Manual Clinical Tremor Assessment System</a:t>
                      </a:r>
                      <a:endParaRPr lang="en-US" sz="14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Lee et al., 2023</a:t>
                      </a:r>
                      <a:endParaRPr lang="en-IN" sz="14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Clinical Observation</a:t>
                      </a:r>
                      <a:endParaRPr lang="en-IN" sz="14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Parkinson’s screening</a:t>
                      </a:r>
                      <a:endParaRPr lang="en-US" sz="14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Easy to implement</a:t>
                      </a:r>
                      <a:endParaRPr lang="en-US" sz="14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No automation and subjective human error</a:t>
                      </a:r>
                      <a:endParaRPr lang="en-US" sz="14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4820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0255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D1BB8A2-3836-D69B-49CF-8AFD5E6A8F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6431" y="634036"/>
            <a:ext cx="4459287" cy="929757"/>
          </a:xfrm>
        </p:spPr>
        <p:txBody>
          <a:bodyPr tIns="12700" rtlCol="0">
            <a:normAutofit fontScale="90000"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IN" sz="28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ARCHITTECTURE</a:t>
            </a:r>
            <a:b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800" spc="-10" dirty="0"/>
          </a:p>
        </p:txBody>
      </p:sp>
      <p:pic>
        <p:nvPicPr>
          <p:cNvPr id="7171" name="object 3">
            <a:extLst>
              <a:ext uri="{FF2B5EF4-FFF2-40B4-BE49-F238E27FC236}">
                <a16:creationId xmlns:a16="http://schemas.microsoft.com/office/drawing/2014/main" id="{7E994400-F579-B3E6-707A-28BC697CE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347663"/>
            <a:ext cx="1135063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object 4">
            <a:extLst>
              <a:ext uri="{FF2B5EF4-FFF2-40B4-BE49-F238E27FC236}">
                <a16:creationId xmlns:a16="http://schemas.microsoft.com/office/drawing/2014/main" id="{374A33A2-212F-465F-634B-5DE57708E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0" y="482600"/>
            <a:ext cx="1519238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173" name="object 5">
            <a:extLst>
              <a:ext uri="{FF2B5EF4-FFF2-40B4-BE49-F238E27FC236}">
                <a16:creationId xmlns:a16="http://schemas.microsoft.com/office/drawing/2014/main" id="{25C57682-71AD-9299-465A-DBF4526EC50B}"/>
              </a:ext>
            </a:extLst>
          </p:cNvPr>
          <p:cNvGrpSpPr>
            <a:grpSpLocks/>
          </p:cNvGrpSpPr>
          <p:nvPr/>
        </p:nvGrpSpPr>
        <p:grpSpPr bwMode="auto">
          <a:xfrm>
            <a:off x="3913187" y="1324367"/>
            <a:ext cx="3124200" cy="814387"/>
            <a:chOff x="3865458" y="1344884"/>
            <a:chExt cx="3124200" cy="813435"/>
          </a:xfrm>
        </p:grpSpPr>
        <p:sp>
          <p:nvSpPr>
            <p:cNvPr id="7222" name="object 6">
              <a:extLst>
                <a:ext uri="{FF2B5EF4-FFF2-40B4-BE49-F238E27FC236}">
                  <a16:creationId xmlns:a16="http://schemas.microsoft.com/office/drawing/2014/main" id="{F10573D3-0B14-8E6F-E91C-EE9E21BA1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4983" y="1354409"/>
              <a:ext cx="3105150" cy="794385"/>
            </a:xfrm>
            <a:custGeom>
              <a:avLst/>
              <a:gdLst>
                <a:gd name="T0" fmla="*/ 3104936 w 3105150"/>
                <a:gd name="T1" fmla="*/ 0 h 794385"/>
                <a:gd name="T2" fmla="*/ 0 w 3105150"/>
                <a:gd name="T3" fmla="*/ 0 h 794385"/>
                <a:gd name="T4" fmla="*/ 0 w 3105150"/>
                <a:gd name="T5" fmla="*/ 635050 h 794385"/>
                <a:gd name="T6" fmla="*/ 1552468 w 3105150"/>
                <a:gd name="T7" fmla="*/ 793821 h 794385"/>
                <a:gd name="T8" fmla="*/ 3104936 w 3105150"/>
                <a:gd name="T9" fmla="*/ 635050 h 794385"/>
                <a:gd name="T10" fmla="*/ 3104936 w 3105150"/>
                <a:gd name="T11" fmla="*/ 0 h 794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05150" h="794385">
                  <a:moveTo>
                    <a:pt x="3104936" y="0"/>
                  </a:moveTo>
                  <a:lnTo>
                    <a:pt x="0" y="0"/>
                  </a:lnTo>
                  <a:lnTo>
                    <a:pt x="0" y="635050"/>
                  </a:lnTo>
                  <a:lnTo>
                    <a:pt x="1552468" y="793821"/>
                  </a:lnTo>
                  <a:lnTo>
                    <a:pt x="3104936" y="635050"/>
                  </a:lnTo>
                  <a:lnTo>
                    <a:pt x="3104936" y="0"/>
                  </a:lnTo>
                  <a:close/>
                </a:path>
              </a:pathLst>
            </a:custGeom>
            <a:solidFill>
              <a:srgbClr val="145F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223" name="object 7">
              <a:extLst>
                <a:ext uri="{FF2B5EF4-FFF2-40B4-BE49-F238E27FC236}">
                  <a16:creationId xmlns:a16="http://schemas.microsoft.com/office/drawing/2014/main" id="{8508AD27-7DBF-46D4-6072-324087FFC7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4983" y="1354409"/>
              <a:ext cx="3105150" cy="794385"/>
            </a:xfrm>
            <a:custGeom>
              <a:avLst/>
              <a:gdLst>
                <a:gd name="T0" fmla="*/ 0 w 3105150"/>
                <a:gd name="T1" fmla="*/ 0 h 794385"/>
                <a:gd name="T2" fmla="*/ 3104936 w 3105150"/>
                <a:gd name="T3" fmla="*/ 0 h 794385"/>
                <a:gd name="T4" fmla="*/ 3104936 w 3105150"/>
                <a:gd name="T5" fmla="*/ 635050 h 794385"/>
                <a:gd name="T6" fmla="*/ 1552468 w 3105150"/>
                <a:gd name="T7" fmla="*/ 793821 h 794385"/>
                <a:gd name="T8" fmla="*/ 0 w 3105150"/>
                <a:gd name="T9" fmla="*/ 635050 h 794385"/>
                <a:gd name="T10" fmla="*/ 0 w 3105150"/>
                <a:gd name="T11" fmla="*/ 0 h 794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05150" h="794385">
                  <a:moveTo>
                    <a:pt x="0" y="0"/>
                  </a:moveTo>
                  <a:lnTo>
                    <a:pt x="3104936" y="0"/>
                  </a:lnTo>
                  <a:lnTo>
                    <a:pt x="3104936" y="635050"/>
                  </a:lnTo>
                  <a:lnTo>
                    <a:pt x="1552468" y="793821"/>
                  </a:lnTo>
                  <a:lnTo>
                    <a:pt x="0" y="63505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49">
              <a:solidFill>
                <a:srgbClr val="07283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567C0849-1F51-56B9-AAAD-6DD7452BF566}"/>
              </a:ext>
            </a:extLst>
          </p:cNvPr>
          <p:cNvSpPr txBox="1"/>
          <p:nvPr/>
        </p:nvSpPr>
        <p:spPr>
          <a:xfrm>
            <a:off x="4349625" y="1415346"/>
            <a:ext cx="2152898" cy="579646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US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Start Video Capture</a:t>
            </a:r>
          </a:p>
          <a:p>
            <a:pPr marL="12700">
              <a:spcBef>
                <a:spcPts val="100"/>
              </a:spcBef>
              <a:defRPr/>
            </a:pPr>
            <a:r>
              <a:rPr lang="en-US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    (Webcam Input)</a:t>
            </a:r>
            <a:endParaRPr b="1" kern="0" dirty="0">
              <a:solidFill>
                <a:schemeClr val="bg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175" name="object 9">
            <a:extLst>
              <a:ext uri="{FF2B5EF4-FFF2-40B4-BE49-F238E27FC236}">
                <a16:creationId xmlns:a16="http://schemas.microsoft.com/office/drawing/2014/main" id="{1E0CEFEA-C35E-8828-FD98-5397D09B716C}"/>
              </a:ext>
            </a:extLst>
          </p:cNvPr>
          <p:cNvSpPr>
            <a:spLocks/>
          </p:cNvSpPr>
          <p:nvPr/>
        </p:nvSpPr>
        <p:spPr bwMode="auto">
          <a:xfrm>
            <a:off x="4208903" y="2400821"/>
            <a:ext cx="2481263" cy="620712"/>
          </a:xfrm>
          <a:custGeom>
            <a:avLst/>
            <a:gdLst>
              <a:gd name="T0" fmla="*/ 2378506 w 2482215"/>
              <a:gd name="T1" fmla="*/ 0 h 621030"/>
              <a:gd name="T2" fmla="*/ 103388 w 2482215"/>
              <a:gd name="T3" fmla="*/ 0 h 621030"/>
              <a:gd name="T4" fmla="*/ 63136 w 2482215"/>
              <a:gd name="T5" fmla="*/ 8126 h 621030"/>
              <a:gd name="T6" fmla="*/ 30274 w 2482215"/>
              <a:gd name="T7" fmla="*/ 30289 h 621030"/>
              <a:gd name="T8" fmla="*/ 8121 w 2482215"/>
              <a:gd name="T9" fmla="*/ 63162 h 621030"/>
              <a:gd name="T10" fmla="*/ 0 w 2482215"/>
              <a:gd name="T11" fmla="*/ 103418 h 621030"/>
              <a:gd name="T12" fmla="*/ 0 w 2482215"/>
              <a:gd name="T13" fmla="*/ 517062 h 621030"/>
              <a:gd name="T14" fmla="*/ 8121 w 2482215"/>
              <a:gd name="T15" fmla="*/ 557319 h 621030"/>
              <a:gd name="T16" fmla="*/ 30274 w 2482215"/>
              <a:gd name="T17" fmla="*/ 590191 h 621030"/>
              <a:gd name="T18" fmla="*/ 63136 w 2482215"/>
              <a:gd name="T19" fmla="*/ 612354 h 621030"/>
              <a:gd name="T20" fmla="*/ 103388 w 2482215"/>
              <a:gd name="T21" fmla="*/ 620481 h 621030"/>
              <a:gd name="T22" fmla="*/ 2378506 w 2482215"/>
              <a:gd name="T23" fmla="*/ 620481 h 621030"/>
              <a:gd name="T24" fmla="*/ 2418763 w 2482215"/>
              <a:gd name="T25" fmla="*/ 612354 h 621030"/>
              <a:gd name="T26" fmla="*/ 2451635 w 2482215"/>
              <a:gd name="T27" fmla="*/ 590191 h 621030"/>
              <a:gd name="T28" fmla="*/ 2473798 w 2482215"/>
              <a:gd name="T29" fmla="*/ 557319 h 621030"/>
              <a:gd name="T30" fmla="*/ 2481925 w 2482215"/>
              <a:gd name="T31" fmla="*/ 517062 h 621030"/>
              <a:gd name="T32" fmla="*/ 2481925 w 2482215"/>
              <a:gd name="T33" fmla="*/ 103418 h 621030"/>
              <a:gd name="T34" fmla="*/ 2474057 w 2482215"/>
              <a:gd name="T35" fmla="*/ 63836 h 621030"/>
              <a:gd name="T36" fmla="*/ 2451628 w 2482215"/>
              <a:gd name="T37" fmla="*/ 30266 h 621030"/>
              <a:gd name="T38" fmla="*/ 2418085 w 2482215"/>
              <a:gd name="T39" fmla="*/ 7863 h 621030"/>
              <a:gd name="T40" fmla="*/ 2378506 w 2482215"/>
              <a:gd name="T41" fmla="*/ 0 h 6210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82215" h="621030">
                <a:moveTo>
                  <a:pt x="2378506" y="0"/>
                </a:moveTo>
                <a:lnTo>
                  <a:pt x="103388" y="0"/>
                </a:lnTo>
                <a:lnTo>
                  <a:pt x="63136" y="8126"/>
                </a:lnTo>
                <a:lnTo>
                  <a:pt x="30274" y="30289"/>
                </a:lnTo>
                <a:lnTo>
                  <a:pt x="8121" y="63162"/>
                </a:lnTo>
                <a:lnTo>
                  <a:pt x="0" y="103418"/>
                </a:lnTo>
                <a:lnTo>
                  <a:pt x="0" y="517062"/>
                </a:lnTo>
                <a:lnTo>
                  <a:pt x="8121" y="557319"/>
                </a:lnTo>
                <a:lnTo>
                  <a:pt x="30274" y="590191"/>
                </a:lnTo>
                <a:lnTo>
                  <a:pt x="63136" y="612354"/>
                </a:lnTo>
                <a:lnTo>
                  <a:pt x="103388" y="620481"/>
                </a:lnTo>
                <a:lnTo>
                  <a:pt x="2378506" y="620481"/>
                </a:lnTo>
                <a:lnTo>
                  <a:pt x="2418763" y="612354"/>
                </a:lnTo>
                <a:lnTo>
                  <a:pt x="2451635" y="590191"/>
                </a:lnTo>
                <a:lnTo>
                  <a:pt x="2473798" y="557319"/>
                </a:lnTo>
                <a:lnTo>
                  <a:pt x="2481925" y="517062"/>
                </a:lnTo>
                <a:lnTo>
                  <a:pt x="2481925" y="103418"/>
                </a:lnTo>
                <a:lnTo>
                  <a:pt x="2474057" y="63836"/>
                </a:lnTo>
                <a:lnTo>
                  <a:pt x="2451628" y="30266"/>
                </a:lnTo>
                <a:lnTo>
                  <a:pt x="2418085" y="7863"/>
                </a:lnTo>
                <a:lnTo>
                  <a:pt x="2378506" y="0"/>
                </a:lnTo>
                <a:close/>
              </a:path>
            </a:pathLst>
          </a:custGeom>
          <a:solidFill>
            <a:srgbClr val="77BF51"/>
          </a:solidFill>
          <a:ln>
            <a:noFill/>
          </a:ln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F666BA9-B71A-1251-1247-8ACB8956449A}"/>
              </a:ext>
            </a:extLst>
          </p:cNvPr>
          <p:cNvSpPr txBox="1"/>
          <p:nvPr/>
        </p:nvSpPr>
        <p:spPr>
          <a:xfrm>
            <a:off x="4541769" y="2407689"/>
            <a:ext cx="2039937" cy="566822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IN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Hand Detection using </a:t>
            </a:r>
            <a:r>
              <a:rPr lang="en-IN" b="1" dirty="0" err="1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MediaPipe</a:t>
            </a:r>
            <a:endParaRPr b="1" kern="0" dirty="0">
              <a:solidFill>
                <a:schemeClr val="bg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grpSp>
        <p:nvGrpSpPr>
          <p:cNvPr id="7177" name="object 11">
            <a:extLst>
              <a:ext uri="{FF2B5EF4-FFF2-40B4-BE49-F238E27FC236}">
                <a16:creationId xmlns:a16="http://schemas.microsoft.com/office/drawing/2014/main" id="{162BB418-691F-D555-8195-DADDFE4B9EB4}"/>
              </a:ext>
            </a:extLst>
          </p:cNvPr>
          <p:cNvGrpSpPr>
            <a:grpSpLocks/>
          </p:cNvGrpSpPr>
          <p:nvPr/>
        </p:nvGrpSpPr>
        <p:grpSpPr bwMode="auto">
          <a:xfrm>
            <a:off x="4133496" y="3267536"/>
            <a:ext cx="2632075" cy="639762"/>
            <a:chOff x="4111645" y="3287801"/>
            <a:chExt cx="2632075" cy="640080"/>
          </a:xfrm>
          <a:solidFill>
            <a:srgbClr val="F06135"/>
          </a:solidFill>
        </p:grpSpPr>
        <p:sp>
          <p:nvSpPr>
            <p:cNvPr id="7220" name="object 12">
              <a:extLst>
                <a:ext uri="{FF2B5EF4-FFF2-40B4-BE49-F238E27FC236}">
                  <a16:creationId xmlns:a16="http://schemas.microsoft.com/office/drawing/2014/main" id="{39784660-F960-3570-D66C-9C6B2A60D4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1170" y="3297326"/>
              <a:ext cx="2613025" cy="621030"/>
            </a:xfrm>
            <a:custGeom>
              <a:avLst/>
              <a:gdLst>
                <a:gd name="T0" fmla="*/ 2509144 w 2613025"/>
                <a:gd name="T1" fmla="*/ 0 h 621029"/>
                <a:gd name="T2" fmla="*/ 103388 w 2613025"/>
                <a:gd name="T3" fmla="*/ 0 h 621029"/>
                <a:gd name="T4" fmla="*/ 63136 w 2613025"/>
                <a:gd name="T5" fmla="*/ 8126 h 621029"/>
                <a:gd name="T6" fmla="*/ 30274 w 2613025"/>
                <a:gd name="T7" fmla="*/ 30289 h 621029"/>
                <a:gd name="T8" fmla="*/ 8121 w 2613025"/>
                <a:gd name="T9" fmla="*/ 63162 h 621029"/>
                <a:gd name="T10" fmla="*/ 0 w 2613025"/>
                <a:gd name="T11" fmla="*/ 103418 h 621029"/>
                <a:gd name="T12" fmla="*/ 0 w 2613025"/>
                <a:gd name="T13" fmla="*/ 517077 h 621029"/>
                <a:gd name="T14" fmla="*/ 8121 w 2613025"/>
                <a:gd name="T15" fmla="*/ 557333 h 621029"/>
                <a:gd name="T16" fmla="*/ 30274 w 2613025"/>
                <a:gd name="T17" fmla="*/ 590205 h 621029"/>
                <a:gd name="T18" fmla="*/ 63136 w 2613025"/>
                <a:gd name="T19" fmla="*/ 612369 h 621029"/>
                <a:gd name="T20" fmla="*/ 103388 w 2613025"/>
                <a:gd name="T21" fmla="*/ 620496 h 621029"/>
                <a:gd name="T22" fmla="*/ 2509144 w 2613025"/>
                <a:gd name="T23" fmla="*/ 620496 h 621029"/>
                <a:gd name="T24" fmla="*/ 2549400 w 2613025"/>
                <a:gd name="T25" fmla="*/ 612369 h 621029"/>
                <a:gd name="T26" fmla="*/ 2582273 w 2613025"/>
                <a:gd name="T27" fmla="*/ 590205 h 621029"/>
                <a:gd name="T28" fmla="*/ 2604435 w 2613025"/>
                <a:gd name="T29" fmla="*/ 557333 h 621029"/>
                <a:gd name="T30" fmla="*/ 2612562 w 2613025"/>
                <a:gd name="T31" fmla="*/ 517077 h 621029"/>
                <a:gd name="T32" fmla="*/ 2612562 w 2613025"/>
                <a:gd name="T33" fmla="*/ 103418 h 621029"/>
                <a:gd name="T34" fmla="*/ 2604683 w 2613025"/>
                <a:gd name="T35" fmla="*/ 63840 h 621029"/>
                <a:gd name="T36" fmla="*/ 2582265 w 2613025"/>
                <a:gd name="T37" fmla="*/ 30297 h 621029"/>
                <a:gd name="T38" fmla="*/ 2548722 w 2613025"/>
                <a:gd name="T39" fmla="*/ 7879 h 621029"/>
                <a:gd name="T40" fmla="*/ 2509144 w 2613025"/>
                <a:gd name="T41" fmla="*/ 0 h 6210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613025" h="621029">
                  <a:moveTo>
                    <a:pt x="2509144" y="0"/>
                  </a:moveTo>
                  <a:lnTo>
                    <a:pt x="103388" y="0"/>
                  </a:lnTo>
                  <a:lnTo>
                    <a:pt x="63136" y="8126"/>
                  </a:lnTo>
                  <a:lnTo>
                    <a:pt x="30274" y="30289"/>
                  </a:lnTo>
                  <a:lnTo>
                    <a:pt x="8121" y="63162"/>
                  </a:lnTo>
                  <a:lnTo>
                    <a:pt x="0" y="103418"/>
                  </a:lnTo>
                  <a:lnTo>
                    <a:pt x="0" y="517077"/>
                  </a:lnTo>
                  <a:lnTo>
                    <a:pt x="8121" y="557333"/>
                  </a:lnTo>
                  <a:lnTo>
                    <a:pt x="30274" y="590205"/>
                  </a:lnTo>
                  <a:lnTo>
                    <a:pt x="63136" y="612369"/>
                  </a:lnTo>
                  <a:lnTo>
                    <a:pt x="103388" y="620496"/>
                  </a:lnTo>
                  <a:lnTo>
                    <a:pt x="2509144" y="620496"/>
                  </a:lnTo>
                  <a:lnTo>
                    <a:pt x="2549400" y="612369"/>
                  </a:lnTo>
                  <a:lnTo>
                    <a:pt x="2582273" y="590205"/>
                  </a:lnTo>
                  <a:lnTo>
                    <a:pt x="2604435" y="557333"/>
                  </a:lnTo>
                  <a:lnTo>
                    <a:pt x="2612562" y="517077"/>
                  </a:lnTo>
                  <a:lnTo>
                    <a:pt x="2612562" y="103418"/>
                  </a:lnTo>
                  <a:lnTo>
                    <a:pt x="2604683" y="63840"/>
                  </a:lnTo>
                  <a:lnTo>
                    <a:pt x="2582265" y="30297"/>
                  </a:lnTo>
                  <a:lnTo>
                    <a:pt x="2548722" y="7879"/>
                  </a:lnTo>
                  <a:lnTo>
                    <a:pt x="2509144" y="0"/>
                  </a:lnTo>
                  <a:close/>
                </a:path>
              </a:pathLst>
            </a:custGeom>
            <a:grp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221" name="object 13">
              <a:extLst>
                <a:ext uri="{FF2B5EF4-FFF2-40B4-BE49-F238E27FC236}">
                  <a16:creationId xmlns:a16="http://schemas.microsoft.com/office/drawing/2014/main" id="{41A5D75E-140C-D5DB-9B00-B1BAA7B00B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1170" y="3297326"/>
              <a:ext cx="2613025" cy="621030"/>
            </a:xfrm>
            <a:custGeom>
              <a:avLst/>
              <a:gdLst>
                <a:gd name="T0" fmla="*/ 0 w 2613025"/>
                <a:gd name="T1" fmla="*/ 103418 h 621029"/>
                <a:gd name="T2" fmla="*/ 8121 w 2613025"/>
                <a:gd name="T3" fmla="*/ 63162 h 621029"/>
                <a:gd name="T4" fmla="*/ 30274 w 2613025"/>
                <a:gd name="T5" fmla="*/ 30289 h 621029"/>
                <a:gd name="T6" fmla="*/ 63136 w 2613025"/>
                <a:gd name="T7" fmla="*/ 8126 h 621029"/>
                <a:gd name="T8" fmla="*/ 103388 w 2613025"/>
                <a:gd name="T9" fmla="*/ 0 h 621029"/>
                <a:gd name="T10" fmla="*/ 2509144 w 2613025"/>
                <a:gd name="T11" fmla="*/ 0 h 621029"/>
                <a:gd name="T12" fmla="*/ 2548722 w 2613025"/>
                <a:gd name="T13" fmla="*/ 7879 h 621029"/>
                <a:gd name="T14" fmla="*/ 2582265 w 2613025"/>
                <a:gd name="T15" fmla="*/ 30297 h 621029"/>
                <a:gd name="T16" fmla="*/ 2604683 w 2613025"/>
                <a:gd name="T17" fmla="*/ 63840 h 621029"/>
                <a:gd name="T18" fmla="*/ 2612562 w 2613025"/>
                <a:gd name="T19" fmla="*/ 103418 h 621029"/>
                <a:gd name="T20" fmla="*/ 2612562 w 2613025"/>
                <a:gd name="T21" fmla="*/ 517077 h 621029"/>
                <a:gd name="T22" fmla="*/ 2604435 w 2613025"/>
                <a:gd name="T23" fmla="*/ 557333 h 621029"/>
                <a:gd name="T24" fmla="*/ 2582273 w 2613025"/>
                <a:gd name="T25" fmla="*/ 590205 h 621029"/>
                <a:gd name="T26" fmla="*/ 2549400 w 2613025"/>
                <a:gd name="T27" fmla="*/ 612369 h 621029"/>
                <a:gd name="T28" fmla="*/ 2509144 w 2613025"/>
                <a:gd name="T29" fmla="*/ 620496 h 621029"/>
                <a:gd name="T30" fmla="*/ 103388 w 2613025"/>
                <a:gd name="T31" fmla="*/ 620496 h 621029"/>
                <a:gd name="T32" fmla="*/ 63136 w 2613025"/>
                <a:gd name="T33" fmla="*/ 612369 h 621029"/>
                <a:gd name="T34" fmla="*/ 30274 w 2613025"/>
                <a:gd name="T35" fmla="*/ 590205 h 621029"/>
                <a:gd name="T36" fmla="*/ 8121 w 2613025"/>
                <a:gd name="T37" fmla="*/ 557333 h 621029"/>
                <a:gd name="T38" fmla="*/ 0 w 2613025"/>
                <a:gd name="T39" fmla="*/ 517077 h 621029"/>
                <a:gd name="T40" fmla="*/ 0 w 2613025"/>
                <a:gd name="T41" fmla="*/ 103418 h 6210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613025" h="621029">
                  <a:moveTo>
                    <a:pt x="0" y="103418"/>
                  </a:moveTo>
                  <a:lnTo>
                    <a:pt x="8121" y="63162"/>
                  </a:lnTo>
                  <a:lnTo>
                    <a:pt x="30274" y="30289"/>
                  </a:lnTo>
                  <a:lnTo>
                    <a:pt x="63136" y="8126"/>
                  </a:lnTo>
                  <a:lnTo>
                    <a:pt x="103388" y="0"/>
                  </a:lnTo>
                  <a:lnTo>
                    <a:pt x="2509144" y="0"/>
                  </a:lnTo>
                  <a:lnTo>
                    <a:pt x="2548722" y="7879"/>
                  </a:lnTo>
                  <a:lnTo>
                    <a:pt x="2582265" y="30297"/>
                  </a:lnTo>
                  <a:lnTo>
                    <a:pt x="2604683" y="63840"/>
                  </a:lnTo>
                  <a:lnTo>
                    <a:pt x="2612562" y="103418"/>
                  </a:lnTo>
                  <a:lnTo>
                    <a:pt x="2612562" y="517077"/>
                  </a:lnTo>
                  <a:lnTo>
                    <a:pt x="2604435" y="557333"/>
                  </a:lnTo>
                  <a:lnTo>
                    <a:pt x="2582273" y="590205"/>
                  </a:lnTo>
                  <a:lnTo>
                    <a:pt x="2549400" y="612369"/>
                  </a:lnTo>
                  <a:lnTo>
                    <a:pt x="2509144" y="620496"/>
                  </a:lnTo>
                  <a:lnTo>
                    <a:pt x="103388" y="620496"/>
                  </a:lnTo>
                  <a:lnTo>
                    <a:pt x="63136" y="612369"/>
                  </a:lnTo>
                  <a:lnTo>
                    <a:pt x="30274" y="590205"/>
                  </a:lnTo>
                  <a:lnTo>
                    <a:pt x="8121" y="557333"/>
                  </a:lnTo>
                  <a:lnTo>
                    <a:pt x="0" y="517077"/>
                  </a:lnTo>
                  <a:lnTo>
                    <a:pt x="0" y="103418"/>
                  </a:lnTo>
                  <a:close/>
                </a:path>
              </a:pathLst>
            </a:custGeom>
            <a:grpFill/>
            <a:ln w="19049">
              <a:noFill/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IN"/>
            </a:p>
          </p:txBody>
        </p:sp>
      </p:grpSp>
      <p:sp>
        <p:nvSpPr>
          <p:cNvPr id="14" name="object 14">
            <a:extLst>
              <a:ext uri="{FF2B5EF4-FFF2-40B4-BE49-F238E27FC236}">
                <a16:creationId xmlns:a16="http://schemas.microsoft.com/office/drawing/2014/main" id="{FBF21381-E981-0213-4B7E-687958DAB934}"/>
              </a:ext>
            </a:extLst>
          </p:cNvPr>
          <p:cNvSpPr txBox="1"/>
          <p:nvPr/>
        </p:nvSpPr>
        <p:spPr>
          <a:xfrm>
            <a:off x="4353154" y="3284489"/>
            <a:ext cx="2129085" cy="579646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>
            <a:lvl1pPr marL="155575" indent="-1428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100"/>
              </a:spcBef>
            </a:pPr>
            <a:r>
              <a:rPr lang="en-IN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Landmark Tracking</a:t>
            </a:r>
          </a:p>
          <a:p>
            <a:pPr>
              <a:spcBef>
                <a:spcPts val="100"/>
              </a:spcBef>
            </a:pPr>
            <a:r>
              <a:rPr lang="en-IN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 &amp; Pixel Extraction</a:t>
            </a:r>
            <a:endParaRPr lang="en-US" altLang="en-US" b="1" dirty="0">
              <a:solidFill>
                <a:schemeClr val="bg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grpSp>
        <p:nvGrpSpPr>
          <p:cNvPr id="7179" name="object 15">
            <a:extLst>
              <a:ext uri="{FF2B5EF4-FFF2-40B4-BE49-F238E27FC236}">
                <a16:creationId xmlns:a16="http://schemas.microsoft.com/office/drawing/2014/main" id="{B53E2BCA-2B83-9422-99CE-6D838551FDE3}"/>
              </a:ext>
            </a:extLst>
          </p:cNvPr>
          <p:cNvGrpSpPr>
            <a:grpSpLocks/>
          </p:cNvGrpSpPr>
          <p:nvPr/>
        </p:nvGrpSpPr>
        <p:grpSpPr bwMode="auto">
          <a:xfrm>
            <a:off x="4071938" y="4175125"/>
            <a:ext cx="2809875" cy="612775"/>
            <a:chOff x="4071264" y="4175780"/>
            <a:chExt cx="2809875" cy="611505"/>
          </a:xfrm>
        </p:grpSpPr>
        <p:pic>
          <p:nvPicPr>
            <p:cNvPr id="7218" name="object 16">
              <a:extLst>
                <a:ext uri="{FF2B5EF4-FFF2-40B4-BE49-F238E27FC236}">
                  <a16:creationId xmlns:a16="http://schemas.microsoft.com/office/drawing/2014/main" id="{9DB26969-9969-61D2-9117-0173606587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duotone>
                <a:prstClr val="black"/>
                <a:srgbClr val="016EC1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7614" y="4182130"/>
              <a:ext cx="2796783" cy="598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19" name="object 17">
              <a:extLst>
                <a:ext uri="{FF2B5EF4-FFF2-40B4-BE49-F238E27FC236}">
                  <a16:creationId xmlns:a16="http://schemas.microsoft.com/office/drawing/2014/main" id="{35F6239D-2E45-9C22-C939-6D3C4DC56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7614" y="4182130"/>
              <a:ext cx="2797175" cy="598805"/>
            </a:xfrm>
            <a:custGeom>
              <a:avLst/>
              <a:gdLst>
                <a:gd name="T0" fmla="*/ 0 w 2797175"/>
                <a:gd name="T1" fmla="*/ 99736 h 598804"/>
                <a:gd name="T2" fmla="*/ 7837 w 2797175"/>
                <a:gd name="T3" fmla="*/ 60917 h 598804"/>
                <a:gd name="T4" fmla="*/ 29211 w 2797175"/>
                <a:gd name="T5" fmla="*/ 29214 h 598804"/>
                <a:gd name="T6" fmla="*/ 60911 w 2797175"/>
                <a:gd name="T7" fmla="*/ 7838 h 598804"/>
                <a:gd name="T8" fmla="*/ 99730 w 2797175"/>
                <a:gd name="T9" fmla="*/ 0 h 598804"/>
                <a:gd name="T10" fmla="*/ 2697053 w 2797175"/>
                <a:gd name="T11" fmla="*/ 0 h 598804"/>
                <a:gd name="T12" fmla="*/ 2735221 w 2797175"/>
                <a:gd name="T13" fmla="*/ 7594 h 598804"/>
                <a:gd name="T14" fmla="*/ 2767583 w 2797175"/>
                <a:gd name="T15" fmla="*/ 29218 h 598804"/>
                <a:gd name="T16" fmla="*/ 2789190 w 2797175"/>
                <a:gd name="T17" fmla="*/ 61570 h 598804"/>
                <a:gd name="T18" fmla="*/ 2796783 w 2797175"/>
                <a:gd name="T19" fmla="*/ 99736 h 598804"/>
                <a:gd name="T20" fmla="*/ 2796783 w 2797175"/>
                <a:gd name="T21" fmla="*/ 498655 h 598804"/>
                <a:gd name="T22" fmla="*/ 2788946 w 2797175"/>
                <a:gd name="T23" fmla="*/ 537475 h 598804"/>
                <a:gd name="T24" fmla="*/ 2767572 w 2797175"/>
                <a:gd name="T25" fmla="*/ 569174 h 598804"/>
                <a:gd name="T26" fmla="*/ 2735871 w 2797175"/>
                <a:gd name="T27" fmla="*/ 590546 h 598804"/>
                <a:gd name="T28" fmla="*/ 2697053 w 2797175"/>
                <a:gd name="T29" fmla="*/ 598383 h 598804"/>
                <a:gd name="T30" fmla="*/ 99730 w 2797175"/>
                <a:gd name="T31" fmla="*/ 598383 h 598804"/>
                <a:gd name="T32" fmla="*/ 60911 w 2797175"/>
                <a:gd name="T33" fmla="*/ 590546 h 598804"/>
                <a:gd name="T34" fmla="*/ 29211 w 2797175"/>
                <a:gd name="T35" fmla="*/ 569174 h 598804"/>
                <a:gd name="T36" fmla="*/ 7837 w 2797175"/>
                <a:gd name="T37" fmla="*/ 537475 h 598804"/>
                <a:gd name="T38" fmla="*/ 0 w 2797175"/>
                <a:gd name="T39" fmla="*/ 498655 h 598804"/>
                <a:gd name="T40" fmla="*/ 0 w 2797175"/>
                <a:gd name="T41" fmla="*/ 99736 h 5988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797175" h="598804">
                  <a:moveTo>
                    <a:pt x="0" y="99736"/>
                  </a:moveTo>
                  <a:lnTo>
                    <a:pt x="7837" y="60917"/>
                  </a:lnTo>
                  <a:lnTo>
                    <a:pt x="29211" y="29214"/>
                  </a:lnTo>
                  <a:lnTo>
                    <a:pt x="60911" y="7838"/>
                  </a:lnTo>
                  <a:lnTo>
                    <a:pt x="99730" y="0"/>
                  </a:lnTo>
                  <a:lnTo>
                    <a:pt x="2697053" y="0"/>
                  </a:lnTo>
                  <a:lnTo>
                    <a:pt x="2735221" y="7594"/>
                  </a:lnTo>
                  <a:lnTo>
                    <a:pt x="2767583" y="29218"/>
                  </a:lnTo>
                  <a:lnTo>
                    <a:pt x="2789190" y="61570"/>
                  </a:lnTo>
                  <a:lnTo>
                    <a:pt x="2796783" y="99736"/>
                  </a:lnTo>
                  <a:lnTo>
                    <a:pt x="2796783" y="498655"/>
                  </a:lnTo>
                  <a:lnTo>
                    <a:pt x="2788946" y="537475"/>
                  </a:lnTo>
                  <a:lnTo>
                    <a:pt x="2767572" y="569174"/>
                  </a:lnTo>
                  <a:lnTo>
                    <a:pt x="2735871" y="590546"/>
                  </a:lnTo>
                  <a:lnTo>
                    <a:pt x="2697053" y="598383"/>
                  </a:lnTo>
                  <a:lnTo>
                    <a:pt x="99730" y="598383"/>
                  </a:lnTo>
                  <a:lnTo>
                    <a:pt x="60911" y="590546"/>
                  </a:lnTo>
                  <a:lnTo>
                    <a:pt x="29211" y="569174"/>
                  </a:lnTo>
                  <a:lnTo>
                    <a:pt x="7837" y="537475"/>
                  </a:lnTo>
                  <a:lnTo>
                    <a:pt x="0" y="498655"/>
                  </a:lnTo>
                  <a:lnTo>
                    <a:pt x="0" y="99736"/>
                  </a:lnTo>
                  <a:close/>
                </a:path>
              </a:pathLst>
            </a:custGeom>
            <a:noFill/>
            <a:ln w="12700">
              <a:solidFill>
                <a:srgbClr val="145F8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</p:grpSp>
      <p:sp>
        <p:nvSpPr>
          <p:cNvPr id="18" name="object 18">
            <a:extLst>
              <a:ext uri="{FF2B5EF4-FFF2-40B4-BE49-F238E27FC236}">
                <a16:creationId xmlns:a16="http://schemas.microsoft.com/office/drawing/2014/main" id="{D8CE4592-C8B0-91C7-F817-975B86A343D9}"/>
              </a:ext>
            </a:extLst>
          </p:cNvPr>
          <p:cNvSpPr txBox="1"/>
          <p:nvPr/>
        </p:nvSpPr>
        <p:spPr>
          <a:xfrm>
            <a:off x="4635500" y="4184650"/>
            <a:ext cx="1679575" cy="574675"/>
          </a:xfrm>
          <a:prstGeom prst="rect">
            <a:avLst/>
          </a:prstGeom>
        </p:spPr>
        <p:txBody>
          <a:bodyPr lIns="0" tIns="12700" rIns="0" bIns="0">
            <a:spAutoFit/>
          </a:bodyPr>
          <a:lstStyle>
            <a:lvl1pPr marL="331788" indent="-3206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100"/>
              </a:spcBef>
            </a:pPr>
            <a:r>
              <a:rPr lang="en-IN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Tremor Feature Extraction</a:t>
            </a:r>
            <a:endParaRPr lang="en-US" altLang="en-US" b="1" dirty="0">
              <a:solidFill>
                <a:schemeClr val="bg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2B5DFF60-9EDF-4105-E561-54D014437EE2}"/>
              </a:ext>
            </a:extLst>
          </p:cNvPr>
          <p:cNvSpPr txBox="1"/>
          <p:nvPr/>
        </p:nvSpPr>
        <p:spPr>
          <a:xfrm>
            <a:off x="3348038" y="5276850"/>
            <a:ext cx="1054100" cy="573088"/>
          </a:xfrm>
          <a:prstGeom prst="rect">
            <a:avLst/>
          </a:prstGeom>
        </p:spPr>
        <p:txBody>
          <a:bodyPr lIns="0" tIns="12700" rIns="0" bIns="0">
            <a:spAutoFit/>
          </a:bodyPr>
          <a:lstStyle>
            <a:lvl1pPr marL="12700" indent="63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en-US" altLang="en-US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 Clustering</a:t>
            </a:r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185" name="object 27">
            <a:extLst>
              <a:ext uri="{FF2B5EF4-FFF2-40B4-BE49-F238E27FC236}">
                <a16:creationId xmlns:a16="http://schemas.microsoft.com/office/drawing/2014/main" id="{28F0EC77-4CF9-511C-96BC-BB3D9CA94543}"/>
              </a:ext>
            </a:extLst>
          </p:cNvPr>
          <p:cNvGrpSpPr>
            <a:grpSpLocks/>
          </p:cNvGrpSpPr>
          <p:nvPr/>
        </p:nvGrpSpPr>
        <p:grpSpPr bwMode="auto">
          <a:xfrm>
            <a:off x="8770938" y="2765425"/>
            <a:ext cx="2501900" cy="906463"/>
            <a:chOff x="8771549" y="2765557"/>
            <a:chExt cx="2501265" cy="906144"/>
          </a:xfrm>
          <a:solidFill>
            <a:srgbClr val="F06135"/>
          </a:solidFill>
        </p:grpSpPr>
        <p:sp>
          <p:nvSpPr>
            <p:cNvPr id="7212" name="object 28">
              <a:extLst>
                <a:ext uri="{FF2B5EF4-FFF2-40B4-BE49-F238E27FC236}">
                  <a16:creationId xmlns:a16="http://schemas.microsoft.com/office/drawing/2014/main" id="{5E033FE3-4087-9381-DF27-6D4CCC38E6BD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1074" y="2775082"/>
              <a:ext cx="2482215" cy="887094"/>
            </a:xfrm>
            <a:custGeom>
              <a:avLst/>
              <a:gdLst>
                <a:gd name="T0" fmla="*/ 1162481 w 2482215"/>
                <a:gd name="T1" fmla="*/ 290 h 887095"/>
                <a:gd name="T2" fmla="*/ 1009555 w 2482215"/>
                <a:gd name="T3" fmla="*/ 2563 h 887095"/>
                <a:gd name="T4" fmla="*/ 862982 w 2482215"/>
                <a:gd name="T5" fmla="*/ 6978 h 887095"/>
                <a:gd name="T6" fmla="*/ 723923 w 2482215"/>
                <a:gd name="T7" fmla="*/ 13394 h 887095"/>
                <a:gd name="T8" fmla="*/ 593543 w 2482215"/>
                <a:gd name="T9" fmla="*/ 21675 h 887095"/>
                <a:gd name="T10" fmla="*/ 473002 w 2482215"/>
                <a:gd name="T11" fmla="*/ 31682 h 887095"/>
                <a:gd name="T12" fmla="*/ 363466 w 2482215"/>
                <a:gd name="T13" fmla="*/ 43277 h 887095"/>
                <a:gd name="T14" fmla="*/ 266096 w 2482215"/>
                <a:gd name="T15" fmla="*/ 56322 h 887095"/>
                <a:gd name="T16" fmla="*/ 182055 w 2482215"/>
                <a:gd name="T17" fmla="*/ 70677 h 887095"/>
                <a:gd name="T18" fmla="*/ 58612 w 2482215"/>
                <a:gd name="T19" fmla="*/ 102769 h 887095"/>
                <a:gd name="T20" fmla="*/ 0 w 2482215"/>
                <a:gd name="T21" fmla="*/ 147797 h 887095"/>
                <a:gd name="T22" fmla="*/ 37899 w 2482215"/>
                <a:gd name="T23" fmla="*/ 775348 h 887095"/>
                <a:gd name="T24" fmla="*/ 145396 w 2482215"/>
                <a:gd name="T25" fmla="*/ 808437 h 887095"/>
                <a:gd name="T26" fmla="*/ 266096 w 2482215"/>
                <a:gd name="T27" fmla="*/ 830419 h 887095"/>
                <a:gd name="T28" fmla="*/ 363466 w 2482215"/>
                <a:gd name="T29" fmla="*/ 843465 h 887095"/>
                <a:gd name="T30" fmla="*/ 473002 w 2482215"/>
                <a:gd name="T31" fmla="*/ 855062 h 887095"/>
                <a:gd name="T32" fmla="*/ 593543 w 2482215"/>
                <a:gd name="T33" fmla="*/ 865071 h 887095"/>
                <a:gd name="T34" fmla="*/ 723923 w 2482215"/>
                <a:gd name="T35" fmla="*/ 873354 h 887095"/>
                <a:gd name="T36" fmla="*/ 862982 w 2482215"/>
                <a:gd name="T37" fmla="*/ 879773 h 887095"/>
                <a:gd name="T38" fmla="*/ 1009555 w 2482215"/>
                <a:gd name="T39" fmla="*/ 884189 h 887095"/>
                <a:gd name="T40" fmla="*/ 1162481 w 2482215"/>
                <a:gd name="T41" fmla="*/ 886463 h 887095"/>
                <a:gd name="T42" fmla="*/ 1319444 w 2482215"/>
                <a:gd name="T43" fmla="*/ 886463 h 887095"/>
                <a:gd name="T44" fmla="*/ 1472369 w 2482215"/>
                <a:gd name="T45" fmla="*/ 884189 h 887095"/>
                <a:gd name="T46" fmla="*/ 1618942 w 2482215"/>
                <a:gd name="T47" fmla="*/ 879773 h 887095"/>
                <a:gd name="T48" fmla="*/ 1758001 w 2482215"/>
                <a:gd name="T49" fmla="*/ 873354 h 887095"/>
                <a:gd name="T50" fmla="*/ 1888382 w 2482215"/>
                <a:gd name="T51" fmla="*/ 865071 h 887095"/>
                <a:gd name="T52" fmla="*/ 2008922 w 2482215"/>
                <a:gd name="T53" fmla="*/ 855062 h 887095"/>
                <a:gd name="T54" fmla="*/ 2118459 w 2482215"/>
                <a:gd name="T55" fmla="*/ 843465 h 887095"/>
                <a:gd name="T56" fmla="*/ 2215829 w 2482215"/>
                <a:gd name="T57" fmla="*/ 830419 h 887095"/>
                <a:gd name="T58" fmla="*/ 2299870 w 2482215"/>
                <a:gd name="T59" fmla="*/ 816063 h 887095"/>
                <a:gd name="T60" fmla="*/ 2423312 w 2482215"/>
                <a:gd name="T61" fmla="*/ 783973 h 887095"/>
                <a:gd name="T62" fmla="*/ 2481925 w 2482215"/>
                <a:gd name="T63" fmla="*/ 738957 h 887095"/>
                <a:gd name="T64" fmla="*/ 2444025 w 2482215"/>
                <a:gd name="T65" fmla="*/ 111396 h 887095"/>
                <a:gd name="T66" fmla="*/ 2336528 w 2482215"/>
                <a:gd name="T67" fmla="*/ 78304 h 887095"/>
                <a:gd name="T68" fmla="*/ 2215829 w 2482215"/>
                <a:gd name="T69" fmla="*/ 56322 h 887095"/>
                <a:gd name="T70" fmla="*/ 2118459 w 2482215"/>
                <a:gd name="T71" fmla="*/ 43277 h 887095"/>
                <a:gd name="T72" fmla="*/ 2008922 w 2482215"/>
                <a:gd name="T73" fmla="*/ 31682 h 887095"/>
                <a:gd name="T74" fmla="*/ 1888382 w 2482215"/>
                <a:gd name="T75" fmla="*/ 21675 h 887095"/>
                <a:gd name="T76" fmla="*/ 1758001 w 2482215"/>
                <a:gd name="T77" fmla="*/ 13394 h 887095"/>
                <a:gd name="T78" fmla="*/ 1618942 w 2482215"/>
                <a:gd name="T79" fmla="*/ 6978 h 887095"/>
                <a:gd name="T80" fmla="*/ 1472369 w 2482215"/>
                <a:gd name="T81" fmla="*/ 2563 h 887095"/>
                <a:gd name="T82" fmla="*/ 1319444 w 2482215"/>
                <a:gd name="T83" fmla="*/ 290 h 887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482215" h="887095">
                  <a:moveTo>
                    <a:pt x="1240962" y="0"/>
                  </a:moveTo>
                  <a:lnTo>
                    <a:pt x="1162481" y="290"/>
                  </a:lnTo>
                  <a:lnTo>
                    <a:pt x="1085297" y="1151"/>
                  </a:lnTo>
                  <a:lnTo>
                    <a:pt x="1009555" y="2563"/>
                  </a:lnTo>
                  <a:lnTo>
                    <a:pt x="935402" y="4512"/>
                  </a:lnTo>
                  <a:lnTo>
                    <a:pt x="862982" y="6978"/>
                  </a:lnTo>
                  <a:lnTo>
                    <a:pt x="792441" y="9944"/>
                  </a:lnTo>
                  <a:lnTo>
                    <a:pt x="723923" y="13394"/>
                  </a:lnTo>
                  <a:lnTo>
                    <a:pt x="657576" y="17310"/>
                  </a:lnTo>
                  <a:lnTo>
                    <a:pt x="593543" y="21675"/>
                  </a:lnTo>
                  <a:lnTo>
                    <a:pt x="531970" y="26472"/>
                  </a:lnTo>
                  <a:lnTo>
                    <a:pt x="473002" y="31682"/>
                  </a:lnTo>
                  <a:lnTo>
                    <a:pt x="416786" y="37290"/>
                  </a:lnTo>
                  <a:lnTo>
                    <a:pt x="363466" y="43277"/>
                  </a:lnTo>
                  <a:lnTo>
                    <a:pt x="313187" y="49627"/>
                  </a:lnTo>
                  <a:lnTo>
                    <a:pt x="266096" y="56322"/>
                  </a:lnTo>
                  <a:lnTo>
                    <a:pt x="222336" y="63344"/>
                  </a:lnTo>
                  <a:lnTo>
                    <a:pt x="182055" y="70677"/>
                  </a:lnTo>
                  <a:lnTo>
                    <a:pt x="112506" y="86206"/>
                  </a:lnTo>
                  <a:lnTo>
                    <a:pt x="58612" y="102769"/>
                  </a:lnTo>
                  <a:lnTo>
                    <a:pt x="21536" y="120229"/>
                  </a:lnTo>
                  <a:lnTo>
                    <a:pt x="0" y="147797"/>
                  </a:lnTo>
                  <a:lnTo>
                    <a:pt x="0" y="738957"/>
                  </a:lnTo>
                  <a:lnTo>
                    <a:pt x="37899" y="775348"/>
                  </a:lnTo>
                  <a:lnTo>
                    <a:pt x="83529" y="792374"/>
                  </a:lnTo>
                  <a:lnTo>
                    <a:pt x="145396" y="808437"/>
                  </a:lnTo>
                  <a:lnTo>
                    <a:pt x="222336" y="823396"/>
                  </a:lnTo>
                  <a:lnTo>
                    <a:pt x="266096" y="830419"/>
                  </a:lnTo>
                  <a:lnTo>
                    <a:pt x="313187" y="837114"/>
                  </a:lnTo>
                  <a:lnTo>
                    <a:pt x="363466" y="843465"/>
                  </a:lnTo>
                  <a:lnTo>
                    <a:pt x="416786" y="849453"/>
                  </a:lnTo>
                  <a:lnTo>
                    <a:pt x="473002" y="855062"/>
                  </a:lnTo>
                  <a:lnTo>
                    <a:pt x="531970" y="860273"/>
                  </a:lnTo>
                  <a:lnTo>
                    <a:pt x="593543" y="865071"/>
                  </a:lnTo>
                  <a:lnTo>
                    <a:pt x="657576" y="869437"/>
                  </a:lnTo>
                  <a:lnTo>
                    <a:pt x="723923" y="873354"/>
                  </a:lnTo>
                  <a:lnTo>
                    <a:pt x="792441" y="876806"/>
                  </a:lnTo>
                  <a:lnTo>
                    <a:pt x="862982" y="879773"/>
                  </a:lnTo>
                  <a:lnTo>
                    <a:pt x="935402" y="882240"/>
                  </a:lnTo>
                  <a:lnTo>
                    <a:pt x="1009555" y="884189"/>
                  </a:lnTo>
                  <a:lnTo>
                    <a:pt x="1085297" y="885603"/>
                  </a:lnTo>
                  <a:lnTo>
                    <a:pt x="1162481" y="886463"/>
                  </a:lnTo>
                  <a:lnTo>
                    <a:pt x="1240962" y="886754"/>
                  </a:lnTo>
                  <a:lnTo>
                    <a:pt x="1319444" y="886463"/>
                  </a:lnTo>
                  <a:lnTo>
                    <a:pt x="1396628" y="885603"/>
                  </a:lnTo>
                  <a:lnTo>
                    <a:pt x="1472369" y="884189"/>
                  </a:lnTo>
                  <a:lnTo>
                    <a:pt x="1546522" y="882240"/>
                  </a:lnTo>
                  <a:lnTo>
                    <a:pt x="1618942" y="879773"/>
                  </a:lnTo>
                  <a:lnTo>
                    <a:pt x="1689484" y="876806"/>
                  </a:lnTo>
                  <a:lnTo>
                    <a:pt x="1758001" y="873354"/>
                  </a:lnTo>
                  <a:lnTo>
                    <a:pt x="1824349" y="869437"/>
                  </a:lnTo>
                  <a:lnTo>
                    <a:pt x="1888382" y="865071"/>
                  </a:lnTo>
                  <a:lnTo>
                    <a:pt x="1949955" y="860273"/>
                  </a:lnTo>
                  <a:lnTo>
                    <a:pt x="2008922" y="855062"/>
                  </a:lnTo>
                  <a:lnTo>
                    <a:pt x="2065138" y="849453"/>
                  </a:lnTo>
                  <a:lnTo>
                    <a:pt x="2118459" y="843465"/>
                  </a:lnTo>
                  <a:lnTo>
                    <a:pt x="2168737" y="837114"/>
                  </a:lnTo>
                  <a:lnTo>
                    <a:pt x="2215829" y="830419"/>
                  </a:lnTo>
                  <a:lnTo>
                    <a:pt x="2259588" y="823396"/>
                  </a:lnTo>
                  <a:lnTo>
                    <a:pt x="2299870" y="816063"/>
                  </a:lnTo>
                  <a:lnTo>
                    <a:pt x="2369419" y="800535"/>
                  </a:lnTo>
                  <a:lnTo>
                    <a:pt x="2423312" y="783973"/>
                  </a:lnTo>
                  <a:lnTo>
                    <a:pt x="2460388" y="766516"/>
                  </a:lnTo>
                  <a:lnTo>
                    <a:pt x="2481925" y="738957"/>
                  </a:lnTo>
                  <a:lnTo>
                    <a:pt x="2481925" y="147797"/>
                  </a:lnTo>
                  <a:lnTo>
                    <a:pt x="2444025" y="111396"/>
                  </a:lnTo>
                  <a:lnTo>
                    <a:pt x="2398395" y="94367"/>
                  </a:lnTo>
                  <a:lnTo>
                    <a:pt x="2336528" y="78304"/>
                  </a:lnTo>
                  <a:lnTo>
                    <a:pt x="2259588" y="63344"/>
                  </a:lnTo>
                  <a:lnTo>
                    <a:pt x="2215829" y="56322"/>
                  </a:lnTo>
                  <a:lnTo>
                    <a:pt x="2168737" y="49627"/>
                  </a:lnTo>
                  <a:lnTo>
                    <a:pt x="2118459" y="43277"/>
                  </a:lnTo>
                  <a:lnTo>
                    <a:pt x="2065138" y="37290"/>
                  </a:lnTo>
                  <a:lnTo>
                    <a:pt x="2008922" y="31682"/>
                  </a:lnTo>
                  <a:lnTo>
                    <a:pt x="1949955" y="26472"/>
                  </a:lnTo>
                  <a:lnTo>
                    <a:pt x="1888382" y="21675"/>
                  </a:lnTo>
                  <a:lnTo>
                    <a:pt x="1824349" y="17310"/>
                  </a:lnTo>
                  <a:lnTo>
                    <a:pt x="1758001" y="13394"/>
                  </a:lnTo>
                  <a:lnTo>
                    <a:pt x="1689484" y="9944"/>
                  </a:lnTo>
                  <a:lnTo>
                    <a:pt x="1618942" y="6978"/>
                  </a:lnTo>
                  <a:lnTo>
                    <a:pt x="1546522" y="4512"/>
                  </a:lnTo>
                  <a:lnTo>
                    <a:pt x="1472369" y="2563"/>
                  </a:lnTo>
                  <a:lnTo>
                    <a:pt x="1396628" y="1151"/>
                  </a:lnTo>
                  <a:lnTo>
                    <a:pt x="1319444" y="290"/>
                  </a:lnTo>
                  <a:lnTo>
                    <a:pt x="124096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213" name="object 29">
              <a:extLst>
                <a:ext uri="{FF2B5EF4-FFF2-40B4-BE49-F238E27FC236}">
                  <a16:creationId xmlns:a16="http://schemas.microsoft.com/office/drawing/2014/main" id="{DE097BB9-E3B1-1C76-051F-50C1D8667575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1074" y="2775082"/>
              <a:ext cx="2482215" cy="887094"/>
            </a:xfrm>
            <a:custGeom>
              <a:avLst/>
              <a:gdLst>
                <a:gd name="T0" fmla="*/ 2472256 w 2482215"/>
                <a:gd name="T1" fmla="*/ 166336 h 887095"/>
                <a:gd name="T2" fmla="*/ 2299870 w 2482215"/>
                <a:gd name="T3" fmla="*/ 224895 h 887095"/>
                <a:gd name="T4" fmla="*/ 2168737 w 2482215"/>
                <a:gd name="T5" fmla="*/ 245941 h 887095"/>
                <a:gd name="T6" fmla="*/ 2008922 w 2482215"/>
                <a:gd name="T7" fmla="*/ 263883 h 887095"/>
                <a:gd name="T8" fmla="*/ 1824349 w 2482215"/>
                <a:gd name="T9" fmla="*/ 278254 h 887095"/>
                <a:gd name="T10" fmla="*/ 1618942 w 2482215"/>
                <a:gd name="T11" fmla="*/ 288586 h 887095"/>
                <a:gd name="T12" fmla="*/ 1396628 w 2482215"/>
                <a:gd name="T13" fmla="*/ 294413 h 887095"/>
                <a:gd name="T14" fmla="*/ 1162481 w 2482215"/>
                <a:gd name="T15" fmla="*/ 295273 h 887095"/>
                <a:gd name="T16" fmla="*/ 935402 w 2482215"/>
                <a:gd name="T17" fmla="*/ 291052 h 887095"/>
                <a:gd name="T18" fmla="*/ 723923 w 2482215"/>
                <a:gd name="T19" fmla="*/ 282170 h 887095"/>
                <a:gd name="T20" fmla="*/ 531970 w 2482215"/>
                <a:gd name="T21" fmla="*/ 269093 h 887095"/>
                <a:gd name="T22" fmla="*/ 363466 w 2482215"/>
                <a:gd name="T23" fmla="*/ 252290 h 887095"/>
                <a:gd name="T24" fmla="*/ 222336 w 2482215"/>
                <a:gd name="T25" fmla="*/ 232226 h 887095"/>
                <a:gd name="T26" fmla="*/ 58612 w 2482215"/>
                <a:gd name="T27" fmla="*/ 192810 h 887095"/>
                <a:gd name="T28" fmla="*/ 0 w 2482215"/>
                <a:gd name="T29" fmla="*/ 147797 h 887095"/>
                <a:gd name="T30" fmla="*/ 9668 w 2482215"/>
                <a:gd name="T31" fmla="*/ 129252 h 887095"/>
                <a:gd name="T32" fmla="*/ 182055 w 2482215"/>
                <a:gd name="T33" fmla="*/ 70677 h 887095"/>
                <a:gd name="T34" fmla="*/ 313187 w 2482215"/>
                <a:gd name="T35" fmla="*/ 49627 h 887095"/>
                <a:gd name="T36" fmla="*/ 473002 w 2482215"/>
                <a:gd name="T37" fmla="*/ 31682 h 887095"/>
                <a:gd name="T38" fmla="*/ 657576 w 2482215"/>
                <a:gd name="T39" fmla="*/ 17310 h 887095"/>
                <a:gd name="T40" fmla="*/ 862982 w 2482215"/>
                <a:gd name="T41" fmla="*/ 6978 h 887095"/>
                <a:gd name="T42" fmla="*/ 1085297 w 2482215"/>
                <a:gd name="T43" fmla="*/ 1151 h 887095"/>
                <a:gd name="T44" fmla="*/ 1319444 w 2482215"/>
                <a:gd name="T45" fmla="*/ 290 h 887095"/>
                <a:gd name="T46" fmla="*/ 1546522 w 2482215"/>
                <a:gd name="T47" fmla="*/ 4512 h 887095"/>
                <a:gd name="T48" fmla="*/ 1758001 w 2482215"/>
                <a:gd name="T49" fmla="*/ 13394 h 887095"/>
                <a:gd name="T50" fmla="*/ 1949955 w 2482215"/>
                <a:gd name="T51" fmla="*/ 26472 h 887095"/>
                <a:gd name="T52" fmla="*/ 2118459 w 2482215"/>
                <a:gd name="T53" fmla="*/ 43277 h 887095"/>
                <a:gd name="T54" fmla="*/ 2259588 w 2482215"/>
                <a:gd name="T55" fmla="*/ 63344 h 887095"/>
                <a:gd name="T56" fmla="*/ 2423312 w 2482215"/>
                <a:gd name="T57" fmla="*/ 102769 h 887095"/>
                <a:gd name="T58" fmla="*/ 2481925 w 2482215"/>
                <a:gd name="T59" fmla="*/ 738957 h 887095"/>
                <a:gd name="T60" fmla="*/ 2336528 w 2482215"/>
                <a:gd name="T61" fmla="*/ 808437 h 887095"/>
                <a:gd name="T62" fmla="*/ 2168737 w 2482215"/>
                <a:gd name="T63" fmla="*/ 837114 h 887095"/>
                <a:gd name="T64" fmla="*/ 2008922 w 2482215"/>
                <a:gd name="T65" fmla="*/ 855062 h 887095"/>
                <a:gd name="T66" fmla="*/ 1824349 w 2482215"/>
                <a:gd name="T67" fmla="*/ 869437 h 887095"/>
                <a:gd name="T68" fmla="*/ 1618942 w 2482215"/>
                <a:gd name="T69" fmla="*/ 879773 h 887095"/>
                <a:gd name="T70" fmla="*/ 1396628 w 2482215"/>
                <a:gd name="T71" fmla="*/ 885603 h 887095"/>
                <a:gd name="T72" fmla="*/ 1162481 w 2482215"/>
                <a:gd name="T73" fmla="*/ 886463 h 887095"/>
                <a:gd name="T74" fmla="*/ 935402 w 2482215"/>
                <a:gd name="T75" fmla="*/ 882240 h 887095"/>
                <a:gd name="T76" fmla="*/ 723923 w 2482215"/>
                <a:gd name="T77" fmla="*/ 873354 h 887095"/>
                <a:gd name="T78" fmla="*/ 531970 w 2482215"/>
                <a:gd name="T79" fmla="*/ 860273 h 887095"/>
                <a:gd name="T80" fmla="*/ 363466 w 2482215"/>
                <a:gd name="T81" fmla="*/ 843465 h 887095"/>
                <a:gd name="T82" fmla="*/ 222336 w 2482215"/>
                <a:gd name="T83" fmla="*/ 823396 h 887095"/>
                <a:gd name="T84" fmla="*/ 58612 w 2482215"/>
                <a:gd name="T85" fmla="*/ 783973 h 887095"/>
                <a:gd name="T86" fmla="*/ 0 w 2482215"/>
                <a:gd name="T87" fmla="*/ 147797 h 887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482215" h="887095">
                  <a:moveTo>
                    <a:pt x="2481925" y="147797"/>
                  </a:moveTo>
                  <a:lnTo>
                    <a:pt x="2479483" y="157144"/>
                  </a:lnTo>
                  <a:lnTo>
                    <a:pt x="2472256" y="166336"/>
                  </a:lnTo>
                  <a:lnTo>
                    <a:pt x="2423312" y="192810"/>
                  </a:lnTo>
                  <a:lnTo>
                    <a:pt x="2369419" y="209370"/>
                  </a:lnTo>
                  <a:lnTo>
                    <a:pt x="2299870" y="224895"/>
                  </a:lnTo>
                  <a:lnTo>
                    <a:pt x="2259588" y="232226"/>
                  </a:lnTo>
                  <a:lnTo>
                    <a:pt x="2215829" y="239248"/>
                  </a:lnTo>
                  <a:lnTo>
                    <a:pt x="2168737" y="245941"/>
                  </a:lnTo>
                  <a:lnTo>
                    <a:pt x="2118459" y="252290"/>
                  </a:lnTo>
                  <a:lnTo>
                    <a:pt x="2065138" y="258277"/>
                  </a:lnTo>
                  <a:lnTo>
                    <a:pt x="2008922" y="263883"/>
                  </a:lnTo>
                  <a:lnTo>
                    <a:pt x="1949955" y="269093"/>
                  </a:lnTo>
                  <a:lnTo>
                    <a:pt x="1888382" y="273889"/>
                  </a:lnTo>
                  <a:lnTo>
                    <a:pt x="1824349" y="278254"/>
                  </a:lnTo>
                  <a:lnTo>
                    <a:pt x="1758001" y="282170"/>
                  </a:lnTo>
                  <a:lnTo>
                    <a:pt x="1689484" y="285620"/>
                  </a:lnTo>
                  <a:lnTo>
                    <a:pt x="1618942" y="288586"/>
                  </a:lnTo>
                  <a:lnTo>
                    <a:pt x="1546522" y="291052"/>
                  </a:lnTo>
                  <a:lnTo>
                    <a:pt x="1472369" y="293000"/>
                  </a:lnTo>
                  <a:lnTo>
                    <a:pt x="1396628" y="294413"/>
                  </a:lnTo>
                  <a:lnTo>
                    <a:pt x="1319444" y="295273"/>
                  </a:lnTo>
                  <a:lnTo>
                    <a:pt x="1240962" y="295564"/>
                  </a:lnTo>
                  <a:lnTo>
                    <a:pt x="1162481" y="295273"/>
                  </a:lnTo>
                  <a:lnTo>
                    <a:pt x="1085297" y="294413"/>
                  </a:lnTo>
                  <a:lnTo>
                    <a:pt x="1009555" y="293000"/>
                  </a:lnTo>
                  <a:lnTo>
                    <a:pt x="935402" y="291052"/>
                  </a:lnTo>
                  <a:lnTo>
                    <a:pt x="862982" y="288586"/>
                  </a:lnTo>
                  <a:lnTo>
                    <a:pt x="792441" y="285620"/>
                  </a:lnTo>
                  <a:lnTo>
                    <a:pt x="723923" y="282170"/>
                  </a:lnTo>
                  <a:lnTo>
                    <a:pt x="657576" y="278254"/>
                  </a:lnTo>
                  <a:lnTo>
                    <a:pt x="593543" y="273889"/>
                  </a:lnTo>
                  <a:lnTo>
                    <a:pt x="531970" y="269093"/>
                  </a:lnTo>
                  <a:lnTo>
                    <a:pt x="473002" y="263883"/>
                  </a:lnTo>
                  <a:lnTo>
                    <a:pt x="416786" y="258277"/>
                  </a:lnTo>
                  <a:lnTo>
                    <a:pt x="363466" y="252290"/>
                  </a:lnTo>
                  <a:lnTo>
                    <a:pt x="313187" y="245941"/>
                  </a:lnTo>
                  <a:lnTo>
                    <a:pt x="266096" y="239248"/>
                  </a:lnTo>
                  <a:lnTo>
                    <a:pt x="222336" y="232226"/>
                  </a:lnTo>
                  <a:lnTo>
                    <a:pt x="182055" y="224895"/>
                  </a:lnTo>
                  <a:lnTo>
                    <a:pt x="112506" y="209370"/>
                  </a:lnTo>
                  <a:lnTo>
                    <a:pt x="58612" y="192810"/>
                  </a:lnTo>
                  <a:lnTo>
                    <a:pt x="21536" y="175356"/>
                  </a:lnTo>
                  <a:lnTo>
                    <a:pt x="2441" y="157144"/>
                  </a:lnTo>
                  <a:lnTo>
                    <a:pt x="0" y="147797"/>
                  </a:lnTo>
                </a:path>
                <a:path w="2482215" h="887095">
                  <a:moveTo>
                    <a:pt x="0" y="147797"/>
                  </a:moveTo>
                  <a:lnTo>
                    <a:pt x="2441" y="138447"/>
                  </a:lnTo>
                  <a:lnTo>
                    <a:pt x="9668" y="129252"/>
                  </a:lnTo>
                  <a:lnTo>
                    <a:pt x="58612" y="102769"/>
                  </a:lnTo>
                  <a:lnTo>
                    <a:pt x="112506" y="86206"/>
                  </a:lnTo>
                  <a:lnTo>
                    <a:pt x="182055" y="70677"/>
                  </a:lnTo>
                  <a:lnTo>
                    <a:pt x="222336" y="63344"/>
                  </a:lnTo>
                  <a:lnTo>
                    <a:pt x="266096" y="56322"/>
                  </a:lnTo>
                  <a:lnTo>
                    <a:pt x="313187" y="49627"/>
                  </a:lnTo>
                  <a:lnTo>
                    <a:pt x="363466" y="43277"/>
                  </a:lnTo>
                  <a:lnTo>
                    <a:pt x="416786" y="37290"/>
                  </a:lnTo>
                  <a:lnTo>
                    <a:pt x="473002" y="31682"/>
                  </a:lnTo>
                  <a:lnTo>
                    <a:pt x="531970" y="26472"/>
                  </a:lnTo>
                  <a:lnTo>
                    <a:pt x="593543" y="21675"/>
                  </a:lnTo>
                  <a:lnTo>
                    <a:pt x="657576" y="17310"/>
                  </a:lnTo>
                  <a:lnTo>
                    <a:pt x="723923" y="13394"/>
                  </a:lnTo>
                  <a:lnTo>
                    <a:pt x="792441" y="9944"/>
                  </a:lnTo>
                  <a:lnTo>
                    <a:pt x="862982" y="6978"/>
                  </a:lnTo>
                  <a:lnTo>
                    <a:pt x="935402" y="4512"/>
                  </a:lnTo>
                  <a:lnTo>
                    <a:pt x="1009555" y="2563"/>
                  </a:lnTo>
                  <a:lnTo>
                    <a:pt x="1085297" y="1151"/>
                  </a:lnTo>
                  <a:lnTo>
                    <a:pt x="1162481" y="290"/>
                  </a:lnTo>
                  <a:lnTo>
                    <a:pt x="1240962" y="0"/>
                  </a:lnTo>
                  <a:lnTo>
                    <a:pt x="1319444" y="290"/>
                  </a:lnTo>
                  <a:lnTo>
                    <a:pt x="1396628" y="1151"/>
                  </a:lnTo>
                  <a:lnTo>
                    <a:pt x="1472369" y="2563"/>
                  </a:lnTo>
                  <a:lnTo>
                    <a:pt x="1546522" y="4512"/>
                  </a:lnTo>
                  <a:lnTo>
                    <a:pt x="1618942" y="6978"/>
                  </a:lnTo>
                  <a:lnTo>
                    <a:pt x="1689484" y="9944"/>
                  </a:lnTo>
                  <a:lnTo>
                    <a:pt x="1758001" y="13394"/>
                  </a:lnTo>
                  <a:lnTo>
                    <a:pt x="1824349" y="17310"/>
                  </a:lnTo>
                  <a:lnTo>
                    <a:pt x="1888382" y="21675"/>
                  </a:lnTo>
                  <a:lnTo>
                    <a:pt x="1949955" y="26472"/>
                  </a:lnTo>
                  <a:lnTo>
                    <a:pt x="2008922" y="31682"/>
                  </a:lnTo>
                  <a:lnTo>
                    <a:pt x="2065138" y="37290"/>
                  </a:lnTo>
                  <a:lnTo>
                    <a:pt x="2118459" y="43277"/>
                  </a:lnTo>
                  <a:lnTo>
                    <a:pt x="2168737" y="49627"/>
                  </a:lnTo>
                  <a:lnTo>
                    <a:pt x="2215829" y="56322"/>
                  </a:lnTo>
                  <a:lnTo>
                    <a:pt x="2259588" y="63344"/>
                  </a:lnTo>
                  <a:lnTo>
                    <a:pt x="2299870" y="70677"/>
                  </a:lnTo>
                  <a:lnTo>
                    <a:pt x="2369419" y="86206"/>
                  </a:lnTo>
                  <a:lnTo>
                    <a:pt x="2423312" y="102769"/>
                  </a:lnTo>
                  <a:lnTo>
                    <a:pt x="2460388" y="120229"/>
                  </a:lnTo>
                  <a:lnTo>
                    <a:pt x="2481925" y="147797"/>
                  </a:lnTo>
                  <a:lnTo>
                    <a:pt x="2481925" y="738957"/>
                  </a:lnTo>
                  <a:lnTo>
                    <a:pt x="2444025" y="775348"/>
                  </a:lnTo>
                  <a:lnTo>
                    <a:pt x="2398395" y="792374"/>
                  </a:lnTo>
                  <a:lnTo>
                    <a:pt x="2336528" y="808437"/>
                  </a:lnTo>
                  <a:lnTo>
                    <a:pt x="2259588" y="823396"/>
                  </a:lnTo>
                  <a:lnTo>
                    <a:pt x="2215829" y="830419"/>
                  </a:lnTo>
                  <a:lnTo>
                    <a:pt x="2168737" y="837114"/>
                  </a:lnTo>
                  <a:lnTo>
                    <a:pt x="2118459" y="843465"/>
                  </a:lnTo>
                  <a:lnTo>
                    <a:pt x="2065138" y="849453"/>
                  </a:lnTo>
                  <a:lnTo>
                    <a:pt x="2008922" y="855062"/>
                  </a:lnTo>
                  <a:lnTo>
                    <a:pt x="1949955" y="860273"/>
                  </a:lnTo>
                  <a:lnTo>
                    <a:pt x="1888382" y="865071"/>
                  </a:lnTo>
                  <a:lnTo>
                    <a:pt x="1824349" y="869437"/>
                  </a:lnTo>
                  <a:lnTo>
                    <a:pt x="1758001" y="873354"/>
                  </a:lnTo>
                  <a:lnTo>
                    <a:pt x="1689484" y="876806"/>
                  </a:lnTo>
                  <a:lnTo>
                    <a:pt x="1618942" y="879773"/>
                  </a:lnTo>
                  <a:lnTo>
                    <a:pt x="1546522" y="882240"/>
                  </a:lnTo>
                  <a:lnTo>
                    <a:pt x="1472369" y="884189"/>
                  </a:lnTo>
                  <a:lnTo>
                    <a:pt x="1396628" y="885603"/>
                  </a:lnTo>
                  <a:lnTo>
                    <a:pt x="1319444" y="886463"/>
                  </a:lnTo>
                  <a:lnTo>
                    <a:pt x="1240962" y="886754"/>
                  </a:lnTo>
                  <a:lnTo>
                    <a:pt x="1162481" y="886463"/>
                  </a:lnTo>
                  <a:lnTo>
                    <a:pt x="1085297" y="885603"/>
                  </a:lnTo>
                  <a:lnTo>
                    <a:pt x="1009555" y="884189"/>
                  </a:lnTo>
                  <a:lnTo>
                    <a:pt x="935402" y="882240"/>
                  </a:lnTo>
                  <a:lnTo>
                    <a:pt x="862982" y="879773"/>
                  </a:lnTo>
                  <a:lnTo>
                    <a:pt x="792441" y="876806"/>
                  </a:lnTo>
                  <a:lnTo>
                    <a:pt x="723923" y="873354"/>
                  </a:lnTo>
                  <a:lnTo>
                    <a:pt x="657576" y="869437"/>
                  </a:lnTo>
                  <a:lnTo>
                    <a:pt x="593543" y="865071"/>
                  </a:lnTo>
                  <a:lnTo>
                    <a:pt x="531970" y="860273"/>
                  </a:lnTo>
                  <a:lnTo>
                    <a:pt x="473002" y="855062"/>
                  </a:lnTo>
                  <a:lnTo>
                    <a:pt x="416786" y="849453"/>
                  </a:lnTo>
                  <a:lnTo>
                    <a:pt x="363466" y="843465"/>
                  </a:lnTo>
                  <a:lnTo>
                    <a:pt x="313187" y="837114"/>
                  </a:lnTo>
                  <a:lnTo>
                    <a:pt x="266096" y="830419"/>
                  </a:lnTo>
                  <a:lnTo>
                    <a:pt x="222336" y="823396"/>
                  </a:lnTo>
                  <a:lnTo>
                    <a:pt x="182055" y="816063"/>
                  </a:lnTo>
                  <a:lnTo>
                    <a:pt x="112506" y="800535"/>
                  </a:lnTo>
                  <a:lnTo>
                    <a:pt x="58612" y="783973"/>
                  </a:lnTo>
                  <a:lnTo>
                    <a:pt x="21536" y="766516"/>
                  </a:lnTo>
                  <a:lnTo>
                    <a:pt x="0" y="738957"/>
                  </a:lnTo>
                  <a:lnTo>
                    <a:pt x="0" y="147797"/>
                  </a:lnTo>
                  <a:close/>
                </a:path>
              </a:pathLst>
            </a:custGeom>
            <a:grpFill/>
            <a:ln w="19049">
              <a:solidFill>
                <a:srgbClr val="072835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IN"/>
            </a:p>
          </p:txBody>
        </p:sp>
      </p:grpSp>
      <p:sp>
        <p:nvSpPr>
          <p:cNvPr id="30" name="object 30">
            <a:extLst>
              <a:ext uri="{FF2B5EF4-FFF2-40B4-BE49-F238E27FC236}">
                <a16:creationId xmlns:a16="http://schemas.microsoft.com/office/drawing/2014/main" id="{D15C1A28-8821-DC73-2122-E69F2957C61B}"/>
              </a:ext>
            </a:extLst>
          </p:cNvPr>
          <p:cNvSpPr txBox="1"/>
          <p:nvPr/>
        </p:nvSpPr>
        <p:spPr>
          <a:xfrm>
            <a:off x="9132887" y="3087684"/>
            <a:ext cx="1778000" cy="574675"/>
          </a:xfrm>
          <a:prstGeom prst="rect">
            <a:avLst/>
          </a:prstGeom>
        </p:spPr>
        <p:txBody>
          <a:bodyPr lIns="0" tIns="12700" rIns="0" bIns="0">
            <a:spAutoFit/>
          </a:bodyPr>
          <a:lstStyle>
            <a:lvl1pPr marL="552450" indent="-539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en-US" alt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Results &amp; Charts</a:t>
            </a:r>
            <a:endParaRPr lang="en-US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187" name="object 31">
            <a:extLst>
              <a:ext uri="{FF2B5EF4-FFF2-40B4-BE49-F238E27FC236}">
                <a16:creationId xmlns:a16="http://schemas.microsoft.com/office/drawing/2014/main" id="{5C1372C1-EA78-05B2-886A-A9CB79A5C32F}"/>
              </a:ext>
            </a:extLst>
          </p:cNvPr>
          <p:cNvGrpSpPr>
            <a:grpSpLocks/>
          </p:cNvGrpSpPr>
          <p:nvPr/>
        </p:nvGrpSpPr>
        <p:grpSpPr bwMode="auto">
          <a:xfrm>
            <a:off x="5424680" y="2149464"/>
            <a:ext cx="4678291" cy="3872758"/>
            <a:chOff x="5365672" y="2148230"/>
            <a:chExt cx="4678056" cy="3872453"/>
          </a:xfrm>
        </p:grpSpPr>
        <p:sp>
          <p:nvSpPr>
            <p:cNvPr id="7188" name="object 32">
              <a:extLst>
                <a:ext uri="{FF2B5EF4-FFF2-40B4-BE49-F238E27FC236}">
                  <a16:creationId xmlns:a16="http://schemas.microsoft.com/office/drawing/2014/main" id="{D5A7652F-0D9A-8462-F8FE-841E16979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5965" y="2148230"/>
              <a:ext cx="0" cy="199390"/>
            </a:xfrm>
            <a:custGeom>
              <a:avLst/>
              <a:gdLst>
                <a:gd name="T0" fmla="*/ 0 h 199389"/>
                <a:gd name="T1" fmla="*/ 199003 h 199389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</a:cxnLst>
              <a:rect l="0" t="0" r="r" b="b"/>
              <a:pathLst>
                <a:path h="199389">
                  <a:moveTo>
                    <a:pt x="0" y="0"/>
                  </a:moveTo>
                  <a:lnTo>
                    <a:pt x="0" y="199003"/>
                  </a:lnTo>
                </a:path>
              </a:pathLst>
            </a:custGeom>
            <a:noFill/>
            <a:ln w="1904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189" name="object 33">
              <a:extLst>
                <a:ext uri="{FF2B5EF4-FFF2-40B4-BE49-F238E27FC236}">
                  <a16:creationId xmlns:a16="http://schemas.microsoft.com/office/drawing/2014/main" id="{DA59375C-29EE-CE73-32B4-56A75C2EDB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4538" y="2325837"/>
              <a:ext cx="43180" cy="59055"/>
            </a:xfrm>
            <a:custGeom>
              <a:avLst/>
              <a:gdLst>
                <a:gd name="T0" fmla="*/ 42854 w 43179"/>
                <a:gd name="T1" fmla="*/ 0 h 59055"/>
                <a:gd name="T2" fmla="*/ 21427 w 43179"/>
                <a:gd name="T3" fmla="*/ 21396 h 59055"/>
                <a:gd name="T4" fmla="*/ 0 w 43179"/>
                <a:gd name="T5" fmla="*/ 0 h 59055"/>
                <a:gd name="T6" fmla="*/ 21427 w 43179"/>
                <a:gd name="T7" fmla="*/ 58856 h 59055"/>
                <a:gd name="T8" fmla="*/ 42854 w 43179"/>
                <a:gd name="T9" fmla="*/ 0 h 590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79" h="59055">
                  <a:moveTo>
                    <a:pt x="42854" y="0"/>
                  </a:moveTo>
                  <a:lnTo>
                    <a:pt x="21427" y="21396"/>
                  </a:lnTo>
                  <a:lnTo>
                    <a:pt x="0" y="0"/>
                  </a:lnTo>
                  <a:lnTo>
                    <a:pt x="21427" y="58856"/>
                  </a:lnTo>
                  <a:lnTo>
                    <a:pt x="428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190" name="object 34">
              <a:extLst>
                <a:ext uri="{FF2B5EF4-FFF2-40B4-BE49-F238E27FC236}">
                  <a16:creationId xmlns:a16="http://schemas.microsoft.com/office/drawing/2014/main" id="{8CC09C6B-2398-C13C-9361-2152C3046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4538" y="2325837"/>
              <a:ext cx="43180" cy="59055"/>
            </a:xfrm>
            <a:custGeom>
              <a:avLst/>
              <a:gdLst>
                <a:gd name="T0" fmla="*/ 21427 w 43179"/>
                <a:gd name="T1" fmla="*/ 21396 h 59055"/>
                <a:gd name="T2" fmla="*/ 0 w 43179"/>
                <a:gd name="T3" fmla="*/ 0 h 59055"/>
                <a:gd name="T4" fmla="*/ 21427 w 43179"/>
                <a:gd name="T5" fmla="*/ 58856 h 59055"/>
                <a:gd name="T6" fmla="*/ 42854 w 43179"/>
                <a:gd name="T7" fmla="*/ 0 h 59055"/>
                <a:gd name="T8" fmla="*/ 21427 w 43179"/>
                <a:gd name="T9" fmla="*/ 21396 h 590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79" h="59055">
                  <a:moveTo>
                    <a:pt x="21427" y="21396"/>
                  </a:moveTo>
                  <a:lnTo>
                    <a:pt x="0" y="0"/>
                  </a:lnTo>
                  <a:lnTo>
                    <a:pt x="21427" y="58856"/>
                  </a:lnTo>
                  <a:lnTo>
                    <a:pt x="42854" y="0"/>
                  </a:lnTo>
                  <a:lnTo>
                    <a:pt x="21427" y="21396"/>
                  </a:lnTo>
                  <a:close/>
                </a:path>
              </a:pathLst>
            </a:custGeom>
            <a:noFill/>
            <a:ln w="1904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191" name="object 35">
              <a:extLst>
                <a:ext uri="{FF2B5EF4-FFF2-40B4-BE49-F238E27FC236}">
                  <a16:creationId xmlns:a16="http://schemas.microsoft.com/office/drawing/2014/main" id="{5140C894-4811-C347-5E8F-66B56ED4FC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5965" y="3033034"/>
              <a:ext cx="0" cy="199390"/>
            </a:xfrm>
            <a:custGeom>
              <a:avLst/>
              <a:gdLst>
                <a:gd name="T0" fmla="*/ 0 h 199389"/>
                <a:gd name="T1" fmla="*/ 199003 h 199389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</a:cxnLst>
              <a:rect l="0" t="0" r="r" b="b"/>
              <a:pathLst>
                <a:path h="199389">
                  <a:moveTo>
                    <a:pt x="0" y="0"/>
                  </a:moveTo>
                  <a:lnTo>
                    <a:pt x="0" y="199003"/>
                  </a:lnTo>
                </a:path>
              </a:pathLst>
            </a:custGeom>
            <a:noFill/>
            <a:ln w="1904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192" name="object 36">
              <a:extLst>
                <a:ext uri="{FF2B5EF4-FFF2-40B4-BE49-F238E27FC236}">
                  <a16:creationId xmlns:a16="http://schemas.microsoft.com/office/drawing/2014/main" id="{31F031FC-267B-56D9-86AC-88BF115AC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4538" y="3210641"/>
              <a:ext cx="43180" cy="59055"/>
            </a:xfrm>
            <a:custGeom>
              <a:avLst/>
              <a:gdLst>
                <a:gd name="T0" fmla="*/ 42854 w 43179"/>
                <a:gd name="T1" fmla="*/ 0 h 59054"/>
                <a:gd name="T2" fmla="*/ 21427 w 43179"/>
                <a:gd name="T3" fmla="*/ 21396 h 59054"/>
                <a:gd name="T4" fmla="*/ 0 w 43179"/>
                <a:gd name="T5" fmla="*/ 0 h 59054"/>
                <a:gd name="T6" fmla="*/ 21427 w 43179"/>
                <a:gd name="T7" fmla="*/ 58856 h 59054"/>
                <a:gd name="T8" fmla="*/ 42854 w 43179"/>
                <a:gd name="T9" fmla="*/ 0 h 590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79" h="59054">
                  <a:moveTo>
                    <a:pt x="42854" y="0"/>
                  </a:moveTo>
                  <a:lnTo>
                    <a:pt x="21427" y="21396"/>
                  </a:lnTo>
                  <a:lnTo>
                    <a:pt x="0" y="0"/>
                  </a:lnTo>
                  <a:lnTo>
                    <a:pt x="21427" y="58856"/>
                  </a:lnTo>
                  <a:lnTo>
                    <a:pt x="428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193" name="object 37">
              <a:extLst>
                <a:ext uri="{FF2B5EF4-FFF2-40B4-BE49-F238E27FC236}">
                  <a16:creationId xmlns:a16="http://schemas.microsoft.com/office/drawing/2014/main" id="{F1AC92CF-FBD7-B697-EB6F-71039113AB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4538" y="3210641"/>
              <a:ext cx="43180" cy="59055"/>
            </a:xfrm>
            <a:custGeom>
              <a:avLst/>
              <a:gdLst>
                <a:gd name="T0" fmla="*/ 21427 w 43179"/>
                <a:gd name="T1" fmla="*/ 21396 h 59054"/>
                <a:gd name="T2" fmla="*/ 0 w 43179"/>
                <a:gd name="T3" fmla="*/ 0 h 59054"/>
                <a:gd name="T4" fmla="*/ 21427 w 43179"/>
                <a:gd name="T5" fmla="*/ 58856 h 59054"/>
                <a:gd name="T6" fmla="*/ 42854 w 43179"/>
                <a:gd name="T7" fmla="*/ 0 h 59054"/>
                <a:gd name="T8" fmla="*/ 21427 w 43179"/>
                <a:gd name="T9" fmla="*/ 21396 h 590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79" h="59054">
                  <a:moveTo>
                    <a:pt x="21427" y="21396"/>
                  </a:moveTo>
                  <a:lnTo>
                    <a:pt x="0" y="0"/>
                  </a:lnTo>
                  <a:lnTo>
                    <a:pt x="21427" y="58856"/>
                  </a:lnTo>
                  <a:lnTo>
                    <a:pt x="42854" y="0"/>
                  </a:lnTo>
                  <a:lnTo>
                    <a:pt x="21427" y="21396"/>
                  </a:lnTo>
                  <a:close/>
                </a:path>
              </a:pathLst>
            </a:custGeom>
            <a:noFill/>
            <a:ln w="1904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194" name="object 38">
              <a:extLst>
                <a:ext uri="{FF2B5EF4-FFF2-40B4-BE49-F238E27FC236}">
                  <a16:creationId xmlns:a16="http://schemas.microsoft.com/office/drawing/2014/main" id="{93B0021E-BCE5-3B29-8864-95BD9179A2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5965" y="3917823"/>
              <a:ext cx="0" cy="199390"/>
            </a:xfrm>
            <a:custGeom>
              <a:avLst/>
              <a:gdLst>
                <a:gd name="T0" fmla="*/ 0 h 199389"/>
                <a:gd name="T1" fmla="*/ 199025 h 199389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</a:cxnLst>
              <a:rect l="0" t="0" r="r" b="b"/>
              <a:pathLst>
                <a:path h="199389">
                  <a:moveTo>
                    <a:pt x="0" y="0"/>
                  </a:moveTo>
                  <a:lnTo>
                    <a:pt x="0" y="199025"/>
                  </a:lnTo>
                </a:path>
              </a:pathLst>
            </a:custGeom>
            <a:noFill/>
            <a:ln w="1904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195" name="object 39">
              <a:extLst>
                <a:ext uri="{FF2B5EF4-FFF2-40B4-BE49-F238E27FC236}">
                  <a16:creationId xmlns:a16="http://schemas.microsoft.com/office/drawing/2014/main" id="{F4200AF7-E480-41D4-A74D-2095D94D9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4538" y="4095430"/>
              <a:ext cx="43180" cy="59055"/>
            </a:xfrm>
            <a:custGeom>
              <a:avLst/>
              <a:gdLst>
                <a:gd name="T0" fmla="*/ 42854 w 43179"/>
                <a:gd name="T1" fmla="*/ 0 h 59054"/>
                <a:gd name="T2" fmla="*/ 21427 w 43179"/>
                <a:gd name="T3" fmla="*/ 21418 h 59054"/>
                <a:gd name="T4" fmla="*/ 0 w 43179"/>
                <a:gd name="T5" fmla="*/ 0 h 59054"/>
                <a:gd name="T6" fmla="*/ 21427 w 43179"/>
                <a:gd name="T7" fmla="*/ 58850 h 59054"/>
                <a:gd name="T8" fmla="*/ 42854 w 43179"/>
                <a:gd name="T9" fmla="*/ 0 h 590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79" h="59054">
                  <a:moveTo>
                    <a:pt x="42854" y="0"/>
                  </a:moveTo>
                  <a:lnTo>
                    <a:pt x="21427" y="21418"/>
                  </a:lnTo>
                  <a:lnTo>
                    <a:pt x="0" y="0"/>
                  </a:lnTo>
                  <a:lnTo>
                    <a:pt x="21427" y="58850"/>
                  </a:lnTo>
                  <a:lnTo>
                    <a:pt x="428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196" name="object 40">
              <a:extLst>
                <a:ext uri="{FF2B5EF4-FFF2-40B4-BE49-F238E27FC236}">
                  <a16:creationId xmlns:a16="http://schemas.microsoft.com/office/drawing/2014/main" id="{AE449FFC-3128-FDC9-E48E-61B6BC85A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4538" y="4095430"/>
              <a:ext cx="43180" cy="59055"/>
            </a:xfrm>
            <a:custGeom>
              <a:avLst/>
              <a:gdLst>
                <a:gd name="T0" fmla="*/ 21427 w 43179"/>
                <a:gd name="T1" fmla="*/ 21418 h 59054"/>
                <a:gd name="T2" fmla="*/ 0 w 43179"/>
                <a:gd name="T3" fmla="*/ 0 h 59054"/>
                <a:gd name="T4" fmla="*/ 21427 w 43179"/>
                <a:gd name="T5" fmla="*/ 58850 h 59054"/>
                <a:gd name="T6" fmla="*/ 42854 w 43179"/>
                <a:gd name="T7" fmla="*/ 0 h 59054"/>
                <a:gd name="T8" fmla="*/ 21427 w 43179"/>
                <a:gd name="T9" fmla="*/ 21418 h 590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79" h="59054">
                  <a:moveTo>
                    <a:pt x="21427" y="21418"/>
                  </a:moveTo>
                  <a:lnTo>
                    <a:pt x="0" y="0"/>
                  </a:lnTo>
                  <a:lnTo>
                    <a:pt x="21427" y="58850"/>
                  </a:lnTo>
                  <a:lnTo>
                    <a:pt x="42854" y="0"/>
                  </a:lnTo>
                  <a:lnTo>
                    <a:pt x="21427" y="21418"/>
                  </a:lnTo>
                  <a:close/>
                </a:path>
              </a:pathLst>
            </a:custGeom>
            <a:noFill/>
            <a:ln w="1904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203" name="object 47">
              <a:extLst>
                <a:ext uri="{FF2B5EF4-FFF2-40B4-BE49-F238E27FC236}">
                  <a16:creationId xmlns:a16="http://schemas.microsoft.com/office/drawing/2014/main" id="{2DCD208B-555A-2C05-736D-CBD27F7D2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0525" y="3758611"/>
              <a:ext cx="4631624" cy="2262072"/>
            </a:xfrm>
            <a:custGeom>
              <a:avLst/>
              <a:gdLst>
                <a:gd name="T0" fmla="*/ 0 w 6295390"/>
                <a:gd name="T1" fmla="*/ 2388123 h 2388235"/>
                <a:gd name="T2" fmla="*/ 6295186 w 6295390"/>
                <a:gd name="T3" fmla="*/ 2388123 h 2388235"/>
                <a:gd name="T4" fmla="*/ 6295186 w 6295390"/>
                <a:gd name="T5" fmla="*/ 0 h 2388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295390" h="2388235">
                  <a:moveTo>
                    <a:pt x="0" y="2388123"/>
                  </a:moveTo>
                  <a:lnTo>
                    <a:pt x="6295186" y="2388123"/>
                  </a:lnTo>
                  <a:lnTo>
                    <a:pt x="6295186" y="0"/>
                  </a:lnTo>
                </a:path>
              </a:pathLst>
            </a:custGeom>
            <a:noFill/>
            <a:ln w="1904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204" name="object 48">
              <a:extLst>
                <a:ext uri="{FF2B5EF4-FFF2-40B4-BE49-F238E27FC236}">
                  <a16:creationId xmlns:a16="http://schemas.microsoft.com/office/drawing/2014/main" id="{8A06A2E2-054D-EE7C-47EF-B30084247F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0548" y="3721181"/>
              <a:ext cx="43180" cy="59055"/>
            </a:xfrm>
            <a:custGeom>
              <a:avLst/>
              <a:gdLst>
                <a:gd name="T0" fmla="*/ 21396 w 43179"/>
                <a:gd name="T1" fmla="*/ 0 h 59054"/>
                <a:gd name="T2" fmla="*/ 0 w 43179"/>
                <a:gd name="T3" fmla="*/ 58856 h 59054"/>
                <a:gd name="T4" fmla="*/ 21396 w 43179"/>
                <a:gd name="T5" fmla="*/ 37429 h 59054"/>
                <a:gd name="T6" fmla="*/ 42824 w 43179"/>
                <a:gd name="T7" fmla="*/ 58856 h 59054"/>
                <a:gd name="T8" fmla="*/ 21396 w 43179"/>
                <a:gd name="T9" fmla="*/ 0 h 590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79" h="59054">
                  <a:moveTo>
                    <a:pt x="21396" y="0"/>
                  </a:moveTo>
                  <a:lnTo>
                    <a:pt x="0" y="58856"/>
                  </a:lnTo>
                  <a:lnTo>
                    <a:pt x="21396" y="37429"/>
                  </a:lnTo>
                  <a:lnTo>
                    <a:pt x="42824" y="58856"/>
                  </a:lnTo>
                  <a:lnTo>
                    <a:pt x="2139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205" name="object 49">
              <a:extLst>
                <a:ext uri="{FF2B5EF4-FFF2-40B4-BE49-F238E27FC236}">
                  <a16:creationId xmlns:a16="http://schemas.microsoft.com/office/drawing/2014/main" id="{28263EC3-93DB-6184-EF62-D0B967C91F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0548" y="3721181"/>
              <a:ext cx="43180" cy="59055"/>
            </a:xfrm>
            <a:custGeom>
              <a:avLst/>
              <a:gdLst>
                <a:gd name="T0" fmla="*/ 21396 w 43179"/>
                <a:gd name="T1" fmla="*/ 37429 h 59054"/>
                <a:gd name="T2" fmla="*/ 42824 w 43179"/>
                <a:gd name="T3" fmla="*/ 58856 h 59054"/>
                <a:gd name="T4" fmla="*/ 21396 w 43179"/>
                <a:gd name="T5" fmla="*/ 0 h 59054"/>
                <a:gd name="T6" fmla="*/ 0 w 43179"/>
                <a:gd name="T7" fmla="*/ 58856 h 59054"/>
                <a:gd name="T8" fmla="*/ 21396 w 43179"/>
                <a:gd name="T9" fmla="*/ 37429 h 590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79" h="59054">
                  <a:moveTo>
                    <a:pt x="21396" y="37429"/>
                  </a:moveTo>
                  <a:lnTo>
                    <a:pt x="42824" y="58856"/>
                  </a:lnTo>
                  <a:lnTo>
                    <a:pt x="21396" y="0"/>
                  </a:lnTo>
                  <a:lnTo>
                    <a:pt x="0" y="58856"/>
                  </a:lnTo>
                  <a:lnTo>
                    <a:pt x="21396" y="37429"/>
                  </a:lnTo>
                  <a:close/>
                </a:path>
              </a:pathLst>
            </a:custGeom>
            <a:noFill/>
            <a:ln w="1904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208" name="object 52">
              <a:extLst>
                <a:ext uri="{FF2B5EF4-FFF2-40B4-BE49-F238E27FC236}">
                  <a16:creationId xmlns:a16="http://schemas.microsoft.com/office/drawing/2014/main" id="{F8A817C6-2617-089D-558C-6119F17D9E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5672" y="5961626"/>
              <a:ext cx="43180" cy="59055"/>
            </a:xfrm>
            <a:custGeom>
              <a:avLst/>
              <a:gdLst>
                <a:gd name="T0" fmla="*/ 21427 w 43179"/>
                <a:gd name="T1" fmla="*/ 21421 h 59054"/>
                <a:gd name="T2" fmla="*/ 0 w 43179"/>
                <a:gd name="T3" fmla="*/ 0 h 59054"/>
                <a:gd name="T4" fmla="*/ 21427 w 43179"/>
                <a:gd name="T5" fmla="*/ 58853 h 59054"/>
                <a:gd name="T6" fmla="*/ 42854 w 43179"/>
                <a:gd name="T7" fmla="*/ 0 h 59054"/>
                <a:gd name="T8" fmla="*/ 21427 w 43179"/>
                <a:gd name="T9" fmla="*/ 21421 h 590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79" h="59054">
                  <a:moveTo>
                    <a:pt x="21427" y="21421"/>
                  </a:moveTo>
                  <a:lnTo>
                    <a:pt x="0" y="0"/>
                  </a:lnTo>
                  <a:lnTo>
                    <a:pt x="21427" y="58853"/>
                  </a:lnTo>
                  <a:lnTo>
                    <a:pt x="42854" y="0"/>
                  </a:lnTo>
                  <a:lnTo>
                    <a:pt x="21427" y="21421"/>
                  </a:lnTo>
                  <a:close/>
                </a:path>
              </a:pathLst>
            </a:custGeom>
            <a:noFill/>
            <a:ln w="1904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IN" dirty="0"/>
            </a:p>
          </p:txBody>
        </p:sp>
      </p:grpSp>
      <p:pic>
        <p:nvPicPr>
          <p:cNvPr id="3" name="object 16">
            <a:extLst>
              <a:ext uri="{FF2B5EF4-FFF2-40B4-BE49-F238E27FC236}">
                <a16:creationId xmlns:a16="http://schemas.microsoft.com/office/drawing/2014/main" id="{24159824-4FDD-A919-33A1-1C4E63223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rgbClr val="76C14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8288" y="5087301"/>
            <a:ext cx="2796783" cy="599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38">
            <a:extLst>
              <a:ext uri="{FF2B5EF4-FFF2-40B4-BE49-F238E27FC236}">
                <a16:creationId xmlns:a16="http://schemas.microsoft.com/office/drawing/2014/main" id="{9A90E890-B7FF-B2C2-4F85-0AF05CDD27C8}"/>
              </a:ext>
            </a:extLst>
          </p:cNvPr>
          <p:cNvSpPr>
            <a:spLocks/>
          </p:cNvSpPr>
          <p:nvPr/>
        </p:nvSpPr>
        <p:spPr bwMode="auto">
          <a:xfrm>
            <a:off x="5449534" y="4781113"/>
            <a:ext cx="45719" cy="272444"/>
          </a:xfrm>
          <a:custGeom>
            <a:avLst/>
            <a:gdLst>
              <a:gd name="T0" fmla="*/ 0 h 199389"/>
              <a:gd name="T1" fmla="*/ 199025 h 199389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99389">
                <a:moveTo>
                  <a:pt x="0" y="0"/>
                </a:moveTo>
                <a:lnTo>
                  <a:pt x="0" y="199025"/>
                </a:lnTo>
              </a:path>
            </a:pathLst>
          </a:custGeom>
          <a:noFill/>
          <a:ln w="1904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5" name="object 38">
            <a:extLst>
              <a:ext uri="{FF2B5EF4-FFF2-40B4-BE49-F238E27FC236}">
                <a16:creationId xmlns:a16="http://schemas.microsoft.com/office/drawing/2014/main" id="{96F4BBE0-FD23-42C2-942F-CFB1E3CB73D8}"/>
              </a:ext>
            </a:extLst>
          </p:cNvPr>
          <p:cNvSpPr>
            <a:spLocks/>
          </p:cNvSpPr>
          <p:nvPr/>
        </p:nvSpPr>
        <p:spPr bwMode="auto">
          <a:xfrm flipH="1">
            <a:off x="5403814" y="5686927"/>
            <a:ext cx="45719" cy="305764"/>
          </a:xfrm>
          <a:custGeom>
            <a:avLst/>
            <a:gdLst>
              <a:gd name="T0" fmla="*/ 0 h 199389"/>
              <a:gd name="T1" fmla="*/ 199025 h 199389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99389">
                <a:moveTo>
                  <a:pt x="0" y="0"/>
                </a:moveTo>
                <a:lnTo>
                  <a:pt x="0" y="199025"/>
                </a:lnTo>
              </a:path>
            </a:pathLst>
          </a:custGeom>
          <a:noFill/>
          <a:ln w="1904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7" name="object 52">
            <a:extLst>
              <a:ext uri="{FF2B5EF4-FFF2-40B4-BE49-F238E27FC236}">
                <a16:creationId xmlns:a16="http://schemas.microsoft.com/office/drawing/2014/main" id="{E8A39A9A-96D8-6E4A-0F3D-0EE1EA38A4C6}"/>
              </a:ext>
            </a:extLst>
          </p:cNvPr>
          <p:cNvSpPr>
            <a:spLocks/>
          </p:cNvSpPr>
          <p:nvPr/>
        </p:nvSpPr>
        <p:spPr bwMode="auto">
          <a:xfrm>
            <a:off x="5426074" y="5023993"/>
            <a:ext cx="43182" cy="59060"/>
          </a:xfrm>
          <a:custGeom>
            <a:avLst/>
            <a:gdLst>
              <a:gd name="T0" fmla="*/ 21427 w 43179"/>
              <a:gd name="T1" fmla="*/ 21421 h 59054"/>
              <a:gd name="T2" fmla="*/ 0 w 43179"/>
              <a:gd name="T3" fmla="*/ 0 h 59054"/>
              <a:gd name="T4" fmla="*/ 21427 w 43179"/>
              <a:gd name="T5" fmla="*/ 58853 h 59054"/>
              <a:gd name="T6" fmla="*/ 42854 w 43179"/>
              <a:gd name="T7" fmla="*/ 0 h 59054"/>
              <a:gd name="T8" fmla="*/ 21427 w 43179"/>
              <a:gd name="T9" fmla="*/ 21421 h 590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3179" h="59054">
                <a:moveTo>
                  <a:pt x="21427" y="21421"/>
                </a:moveTo>
                <a:lnTo>
                  <a:pt x="0" y="0"/>
                </a:lnTo>
                <a:lnTo>
                  <a:pt x="21427" y="58853"/>
                </a:lnTo>
                <a:lnTo>
                  <a:pt x="42854" y="0"/>
                </a:lnTo>
                <a:lnTo>
                  <a:pt x="21427" y="21421"/>
                </a:lnTo>
                <a:close/>
              </a:path>
            </a:pathLst>
          </a:custGeom>
          <a:noFill/>
          <a:ln w="1904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65A666-D8A0-4012-0C99-822996923BD2}"/>
              </a:ext>
            </a:extLst>
          </p:cNvPr>
          <p:cNvSpPr txBox="1"/>
          <p:nvPr/>
        </p:nvSpPr>
        <p:spPr>
          <a:xfrm>
            <a:off x="4513737" y="5083113"/>
            <a:ext cx="2242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SVM-Based Risk</a:t>
            </a:r>
          </a:p>
          <a:p>
            <a:r>
              <a:rPr lang="en-IN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  Classification</a:t>
            </a:r>
            <a:endParaRPr lang="en-IN" dirty="0">
              <a:solidFill>
                <a:schemeClr val="bg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5D098-4431-D44F-4DB5-152B66AEF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47F217E-6ED4-3B7F-CABD-56F9F12241C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050931-BF85-867A-C840-0B7F33245BA6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AutoShape 2" descr="Image of ">
            <a:extLst>
              <a:ext uri="{FF2B5EF4-FFF2-40B4-BE49-F238E27FC236}">
                <a16:creationId xmlns:a16="http://schemas.microsoft.com/office/drawing/2014/main" id="{25E3F320-6A5E-C84C-9FC3-EE3414490D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2" descr="Image of ">
            <a:extLst>
              <a:ext uri="{FF2B5EF4-FFF2-40B4-BE49-F238E27FC236}">
                <a16:creationId xmlns:a16="http://schemas.microsoft.com/office/drawing/2014/main" id="{EB657AB2-411C-E701-987E-D97AF52844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6ED42A-9792-6076-74BC-2F33C9542940}"/>
              </a:ext>
            </a:extLst>
          </p:cNvPr>
          <p:cNvSpPr txBox="1"/>
          <p:nvPr/>
        </p:nvSpPr>
        <p:spPr>
          <a:xfrm>
            <a:off x="170083" y="1651552"/>
            <a:ext cx="12156634" cy="516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This module focuses on detecting and tracking hand movement in real time using a webcam and the </a:t>
            </a:r>
            <a:r>
              <a:rPr lang="en-US" dirty="0" err="1">
                <a:latin typeface="Times" panose="02020603050405020304" pitchFamily="18" charset="0"/>
                <a:cs typeface="Times" panose="02020603050405020304" pitchFamily="18" charset="0"/>
              </a:rPr>
              <a:t>MediaPipe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framework.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Video Acquisition: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 system captures hand movement videos using a normal camera without requiring any wearable devices.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Hand Landmark Detection: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 err="1">
                <a:latin typeface="Times" panose="02020603050405020304" pitchFamily="18" charset="0"/>
                <a:cs typeface="Times" panose="02020603050405020304" pitchFamily="18" charset="0"/>
              </a:rPr>
              <a:t>MediaPipe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identifies 21 hand key points, including wrist and finger joints, to accurately track hand position.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Continuous Tracking: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Landmarks are tracked frame by frame to monitor subtle shaking and tremor movements.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Region of Interest Extraction: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 hand area is isolated from the background to improve detection accuracy.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Tremor Motion Data Collection: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All landmark coordinates are stored as motion data for further tremor analysis.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93A5CF94-127E-28CF-C731-B0989F2397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37871" y="470036"/>
            <a:ext cx="8991600" cy="874598"/>
          </a:xfrm>
        </p:spPr>
        <p:txBody>
          <a:bodyPr tIns="12700" rtlCol="0">
            <a:norm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MODULE</a:t>
            </a:r>
            <a:r>
              <a:rPr sz="2800" b="1" spc="-3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2800" b="1" spc="-3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1</a:t>
            </a:r>
            <a:r>
              <a:rPr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:</a:t>
            </a:r>
            <a:r>
              <a:rPr lang="en-US" sz="2800" b="1" spc="-25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H</a:t>
            </a:r>
            <a:r>
              <a:rPr lang="en-US"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and Tremor Detection and Landmark Tracking using </a:t>
            </a:r>
            <a:r>
              <a:rPr lang="en-US" sz="2800" b="1" dirty="0" err="1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mediapipe</a:t>
            </a:r>
            <a:r>
              <a:rPr lang="en-US"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Framework</a:t>
            </a:r>
            <a:endParaRPr sz="2800" b="1" spc="-10" dirty="0">
              <a:solidFill>
                <a:srgbClr val="FF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477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726DB14-B5B4-E0E2-1A02-A5D3AB4F47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0826" y="474287"/>
            <a:ext cx="3864610" cy="874598"/>
          </a:xfrm>
        </p:spPr>
        <p:txBody>
          <a:bodyPr tIns="12700" rtlCol="0">
            <a:norm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IN"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MODULE</a:t>
            </a:r>
            <a:r>
              <a:rPr lang="en-IN" sz="2800" b="1" spc="-3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1 : OUTPUT</a:t>
            </a:r>
            <a:endParaRPr sz="2800" spc="-10" dirty="0"/>
          </a:p>
        </p:txBody>
      </p:sp>
      <p:pic>
        <p:nvPicPr>
          <p:cNvPr id="12291" name="object 3">
            <a:extLst>
              <a:ext uri="{FF2B5EF4-FFF2-40B4-BE49-F238E27FC236}">
                <a16:creationId xmlns:a16="http://schemas.microsoft.com/office/drawing/2014/main" id="{95A967C2-0EB5-796E-C0D0-5198C086D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192088"/>
            <a:ext cx="1135062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object 4">
            <a:extLst>
              <a:ext uri="{FF2B5EF4-FFF2-40B4-BE49-F238E27FC236}">
                <a16:creationId xmlns:a16="http://schemas.microsoft.com/office/drawing/2014/main" id="{CD473C1A-2477-F9F4-CDB6-7021A3436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013" y="192088"/>
            <a:ext cx="1520825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E60584A9-92F5-AAA6-65E6-CE3457149BEF}"/>
              </a:ext>
            </a:extLst>
          </p:cNvPr>
          <p:cNvSpPr txBox="1"/>
          <p:nvPr/>
        </p:nvSpPr>
        <p:spPr>
          <a:xfrm>
            <a:off x="877888" y="1563688"/>
            <a:ext cx="1873250" cy="330200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2000" b="1" kern="0" spc="-10">
                <a:solidFill>
                  <a:sysClr val="windowText" lastClr="000000"/>
                </a:solidFill>
                <a:latin typeface="Times New Roman"/>
                <a:cs typeface="Times New Roman"/>
              </a:rPr>
              <a:t>PSEUDOCODE:</a:t>
            </a:r>
            <a:endParaRPr sz="20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E8845CA-6EC5-EE55-0C7D-9F1344373BB0}"/>
              </a:ext>
            </a:extLst>
          </p:cNvPr>
          <p:cNvSpPr txBox="1"/>
          <p:nvPr/>
        </p:nvSpPr>
        <p:spPr>
          <a:xfrm>
            <a:off x="924719" y="1960563"/>
            <a:ext cx="4124325" cy="4998804"/>
          </a:xfrm>
          <a:prstGeom prst="rect">
            <a:avLst/>
          </a:prstGeom>
        </p:spPr>
        <p:txBody>
          <a:bodyPr lIns="0" tIns="1270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Start</a:t>
            </a: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Input: Live webcam video</a:t>
            </a:r>
          </a:p>
          <a:p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Initialize </a:t>
            </a:r>
            <a:r>
              <a:rPr lang="en-IN" dirty="0" err="1">
                <a:latin typeface="Times" panose="02020603050405020304" pitchFamily="18" charset="0"/>
                <a:cs typeface="Times" panose="02020603050405020304" pitchFamily="18" charset="0"/>
              </a:rPr>
              <a:t>MediaPipe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Start camera</a:t>
            </a:r>
          </a:p>
          <a:p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For each video frame: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 Detect hand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 Extract index fingertip position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 Convert to pixel coordinates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 Display pixel values</a:t>
            </a:r>
          </a:p>
          <a:p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Show video with landmarks</a:t>
            </a: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Stop when ESC pressed</a:t>
            </a:r>
          </a:p>
          <a:p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Output: Fingertip pixel coordinates</a:t>
            </a: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End</a:t>
            </a:r>
          </a:p>
          <a:p>
            <a:pPr eaLnBrk="1" hangingPunct="1"/>
            <a:endParaRPr lang="en-US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BA4ACF6-E909-ABA4-A0C7-22830ED6CB0D}"/>
              </a:ext>
            </a:extLst>
          </p:cNvPr>
          <p:cNvSpPr txBox="1"/>
          <p:nvPr/>
        </p:nvSpPr>
        <p:spPr>
          <a:xfrm>
            <a:off x="6473825" y="1630363"/>
            <a:ext cx="1149350" cy="330200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2000" b="1" kern="0" spc="-15">
                <a:solidFill>
                  <a:sysClr val="windowText" lastClr="000000"/>
                </a:solidFill>
                <a:latin typeface="Times New Roman"/>
                <a:cs typeface="Times New Roman"/>
              </a:rPr>
              <a:t>OUTPUT:</a:t>
            </a:r>
            <a:endParaRPr sz="20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5E6A93-2B7C-516B-93E7-FD9A2DE15B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647" y="4270248"/>
            <a:ext cx="3943900" cy="2186617"/>
          </a:xfrm>
          <a:prstGeom prst="rect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638F00-9E71-F380-5F01-B0EC0D4FBE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647" y="2053677"/>
            <a:ext cx="3943900" cy="2050305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8C35F-E360-3AC3-E284-89226E8D4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77C0AC-FCF7-D879-739E-7CA60542A90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DF7E76-05EA-1986-5A0B-1E69BFB57449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AutoShape 2" descr="Image of ">
            <a:extLst>
              <a:ext uri="{FF2B5EF4-FFF2-40B4-BE49-F238E27FC236}">
                <a16:creationId xmlns:a16="http://schemas.microsoft.com/office/drawing/2014/main" id="{928837F5-55A5-3E37-A4DA-241E768B44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2" descr="Image of ">
            <a:extLst>
              <a:ext uri="{FF2B5EF4-FFF2-40B4-BE49-F238E27FC236}">
                <a16:creationId xmlns:a16="http://schemas.microsoft.com/office/drawing/2014/main" id="{5F787083-CB92-B99D-9826-0896FB9420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52B05D-736F-2B81-C17E-5C1923EB621A}"/>
              </a:ext>
            </a:extLst>
          </p:cNvPr>
          <p:cNvSpPr txBox="1"/>
          <p:nvPr/>
        </p:nvSpPr>
        <p:spPr>
          <a:xfrm>
            <a:off x="170083" y="1651552"/>
            <a:ext cx="12156634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This module converts raw hand movement data into measurable tremor features.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Displacement Analysis: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 change in hand landmark position between frames is calculated to measure tremor movement.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Amplitude Measurement: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 intensity of shaking is determined using the variation in hand position.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Frequency Estimation: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 system estimates tremor speed to identify abnormal repetitive oscillations.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Feature Preparation: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All extracted tremor measurements are converted into numerical feature values for machine learning.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1A090629-559E-01E2-69B8-9361587B08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37871" y="470036"/>
            <a:ext cx="8991600" cy="874598"/>
          </a:xfrm>
        </p:spPr>
        <p:txBody>
          <a:bodyPr tIns="12700" rtlCol="0">
            <a:norm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MODULE</a:t>
            </a:r>
            <a:r>
              <a:rPr sz="2800" b="1" spc="-3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2800" b="1" spc="-3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2</a:t>
            </a:r>
            <a:r>
              <a:rPr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:</a:t>
            </a:r>
            <a:r>
              <a:rPr lang="en-US" sz="2800" b="1" spc="-25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Quantitative tremor feature extraction and motion pattern analysis</a:t>
            </a:r>
            <a:endParaRPr sz="2800" b="1" spc="-10" dirty="0">
              <a:solidFill>
                <a:srgbClr val="FF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421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E1966-2726-A3BD-EE29-305623419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object 3">
            <a:extLst>
              <a:ext uri="{FF2B5EF4-FFF2-40B4-BE49-F238E27FC236}">
                <a16:creationId xmlns:a16="http://schemas.microsoft.com/office/drawing/2014/main" id="{85BA4DF1-0239-37DF-5320-A5B4CC322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192088"/>
            <a:ext cx="1135062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object 4">
            <a:extLst>
              <a:ext uri="{FF2B5EF4-FFF2-40B4-BE49-F238E27FC236}">
                <a16:creationId xmlns:a16="http://schemas.microsoft.com/office/drawing/2014/main" id="{8DABC249-7F55-F81F-83C2-78A4CCC8C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013" y="192088"/>
            <a:ext cx="1520825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4D1A3097-5867-B75E-26AE-FB134CB92996}"/>
              </a:ext>
            </a:extLst>
          </p:cNvPr>
          <p:cNvSpPr txBox="1"/>
          <p:nvPr/>
        </p:nvSpPr>
        <p:spPr>
          <a:xfrm>
            <a:off x="877888" y="1563688"/>
            <a:ext cx="1873250" cy="330200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2000" b="1" kern="0" spc="-10">
                <a:solidFill>
                  <a:sysClr val="windowText" lastClr="000000"/>
                </a:solidFill>
                <a:latin typeface="Times New Roman"/>
                <a:cs typeface="Times New Roman"/>
              </a:rPr>
              <a:t>PSEUDOCODE:</a:t>
            </a:r>
            <a:endParaRPr sz="20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3BDEC73-73D7-F313-B0D3-5E3BC831367A}"/>
              </a:ext>
            </a:extLst>
          </p:cNvPr>
          <p:cNvSpPr txBox="1"/>
          <p:nvPr/>
        </p:nvSpPr>
        <p:spPr>
          <a:xfrm>
            <a:off x="924719" y="1893888"/>
            <a:ext cx="4124325" cy="5275803"/>
          </a:xfrm>
          <a:prstGeom prst="rect">
            <a:avLst/>
          </a:prstGeom>
        </p:spPr>
        <p:txBody>
          <a:bodyPr lIns="0" tIns="1270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Input: Live video</a:t>
            </a: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Start camera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Detect hand</a:t>
            </a:r>
          </a:p>
          <a:p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For each frame: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 Track fingertip position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 Calculate movement distance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 Store motion data</a:t>
            </a:r>
          </a:p>
          <a:p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If enough data collected: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 Calculate Amplitude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 Calculate Frequency (using FFT)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 Display values on screen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 Save values to CSV</a:t>
            </a: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Stop when ESC pressed</a:t>
            </a:r>
          </a:p>
          <a:p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Output: Amplitude, Frequency</a:t>
            </a: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End</a:t>
            </a:r>
          </a:p>
          <a:p>
            <a:pPr eaLnBrk="1" hangingPunct="1"/>
            <a:endParaRPr lang="en-US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597F8FF-6B29-5636-27FA-CECEA2EFC9F7}"/>
              </a:ext>
            </a:extLst>
          </p:cNvPr>
          <p:cNvSpPr txBox="1"/>
          <p:nvPr/>
        </p:nvSpPr>
        <p:spPr>
          <a:xfrm>
            <a:off x="6473825" y="1630363"/>
            <a:ext cx="1149350" cy="330200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2000" b="1" kern="0" spc="-15">
                <a:solidFill>
                  <a:sysClr val="windowText" lastClr="000000"/>
                </a:solidFill>
                <a:latin typeface="Times New Roman"/>
                <a:cs typeface="Times New Roman"/>
              </a:rPr>
              <a:t>OUTPUT:</a:t>
            </a:r>
            <a:endParaRPr sz="20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6F04E652-CE45-9F59-632F-25D57614A65E}"/>
              </a:ext>
            </a:extLst>
          </p:cNvPr>
          <p:cNvSpPr txBox="1">
            <a:spLocks/>
          </p:cNvSpPr>
          <p:nvPr/>
        </p:nvSpPr>
        <p:spPr>
          <a:xfrm>
            <a:off x="3897122" y="474287"/>
            <a:ext cx="3864610" cy="874598"/>
          </a:xfrm>
          <a:prstGeom prst="rect">
            <a:avLst/>
          </a:prstGeom>
        </p:spPr>
        <p:txBody>
          <a:bodyPr vert="horz" lIns="91440" tIns="1270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  <a:defRPr/>
            </a:pPr>
            <a:r>
              <a:rPr lang="en-IN"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MODULE</a:t>
            </a:r>
            <a:r>
              <a:rPr lang="en-IN" sz="2800" b="1" spc="-3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2 : OUTPUT</a:t>
            </a:r>
            <a:endParaRPr lang="en-IN" sz="2800" spc="-1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1AE00C-DFEA-82C9-C600-3658FD4158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629" y="4378490"/>
            <a:ext cx="4124325" cy="215004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6C5CFD3-2089-5185-C3FC-B12587F212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629" y="2104535"/>
            <a:ext cx="4124326" cy="2086880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003004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B6892-DE14-6E2E-C536-AB841F983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57" name="object 4">
            <a:extLst>
              <a:ext uri="{FF2B5EF4-FFF2-40B4-BE49-F238E27FC236}">
                <a16:creationId xmlns:a16="http://schemas.microsoft.com/office/drawing/2014/main" id="{98891D6A-E1F5-A8F3-7107-A4142739A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347663"/>
            <a:ext cx="1135063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58" name="object 5">
            <a:extLst>
              <a:ext uri="{FF2B5EF4-FFF2-40B4-BE49-F238E27FC236}">
                <a16:creationId xmlns:a16="http://schemas.microsoft.com/office/drawing/2014/main" id="{7ADC687F-734F-3B5F-99D7-1BDDEB1B2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0" y="482600"/>
            <a:ext cx="1519238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6A06FCC9-40AB-BBA0-59ED-7F0C0DA8E5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0826" y="474287"/>
            <a:ext cx="3864610" cy="874598"/>
          </a:xfrm>
        </p:spPr>
        <p:txBody>
          <a:bodyPr tIns="12700" rtlCol="0">
            <a:norm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IN" sz="2800" b="1" spc="-3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TREMOR DATASET</a:t>
            </a:r>
            <a:endParaRPr sz="2800" spc="-1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855268-791B-518F-0EFE-10A1CDA1C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8118" y="1554481"/>
            <a:ext cx="4681727" cy="50566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glow rad="101600">
              <a:schemeClr val="tx1">
                <a:alpha val="6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168830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06DA2-8A52-E967-4695-5EA7E0533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F0DF3D1-27F1-E7E8-1D32-11AF7CBF4AE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7C88E7-DC6C-6862-AC56-39B187CA6AA8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AutoShape 2" descr="Image of ">
            <a:extLst>
              <a:ext uri="{FF2B5EF4-FFF2-40B4-BE49-F238E27FC236}">
                <a16:creationId xmlns:a16="http://schemas.microsoft.com/office/drawing/2014/main" id="{593359E2-F4AB-A566-F32D-2330FB86B6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2" descr="Image of ">
            <a:extLst>
              <a:ext uri="{FF2B5EF4-FFF2-40B4-BE49-F238E27FC236}">
                <a16:creationId xmlns:a16="http://schemas.microsoft.com/office/drawing/2014/main" id="{1B7CB013-9E7B-88B7-C766-0151AD1AB5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762742-6C30-816D-C768-7A5FFC525FFE}"/>
              </a:ext>
            </a:extLst>
          </p:cNvPr>
          <p:cNvSpPr txBox="1"/>
          <p:nvPr/>
        </p:nvSpPr>
        <p:spPr>
          <a:xfrm>
            <a:off x="170083" y="1651552"/>
            <a:ext cx="12156634" cy="462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This module performs automated classification of tremor patterns using real-time extracted features.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Dataset Loading: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 system loads the tremor dataset generated from Module 2 containing amplitude and frequency values.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Feature Scaling: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Standardization is applied to amplitude and frequency values to improve model performance and stability.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SVM Model Training: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 classifier is trained using labeled tremor data stored in the CSV dataset.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Real-Time Prediction: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 trained model classifies new tremor feature values automatically as Normal or Parkinson’s Risk.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Graphical Representation: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 system visualizes amplitude vs frequency distribution along with classification results for better analysis</a:t>
            </a:r>
            <a:r>
              <a:rPr lang="en-US" dirty="0"/>
              <a:t>.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557D271C-1392-FB4A-6598-DBC924176E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37871" y="470036"/>
            <a:ext cx="8991600" cy="874598"/>
          </a:xfrm>
        </p:spPr>
        <p:txBody>
          <a:bodyPr tIns="12700" rtlCol="0">
            <a:norm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MODULE</a:t>
            </a:r>
            <a:r>
              <a:rPr sz="2800" b="1" spc="-3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2800" b="1" spc="-3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3</a:t>
            </a:r>
            <a:r>
              <a:rPr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:</a:t>
            </a:r>
            <a:r>
              <a:rPr lang="en-US" sz="2800" b="1" spc="-25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Parkinson’s disease classification using support vector machine (SVM)</a:t>
            </a:r>
            <a:endParaRPr sz="2800" b="1" spc="-10" dirty="0">
              <a:solidFill>
                <a:srgbClr val="FF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434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E333C-02B8-B64F-B8C1-E05F3A079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object 3">
            <a:extLst>
              <a:ext uri="{FF2B5EF4-FFF2-40B4-BE49-F238E27FC236}">
                <a16:creationId xmlns:a16="http://schemas.microsoft.com/office/drawing/2014/main" id="{762DA850-B825-5AD1-2A85-F4A05A937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192088"/>
            <a:ext cx="1135062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object 4">
            <a:extLst>
              <a:ext uri="{FF2B5EF4-FFF2-40B4-BE49-F238E27FC236}">
                <a16:creationId xmlns:a16="http://schemas.microsoft.com/office/drawing/2014/main" id="{BE0E06C7-1A25-2FA2-E2FF-6BD8E115D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013" y="192088"/>
            <a:ext cx="1520825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57A41B76-383C-44DF-CBAA-5EC9EE471B62}"/>
              </a:ext>
            </a:extLst>
          </p:cNvPr>
          <p:cNvSpPr txBox="1"/>
          <p:nvPr/>
        </p:nvSpPr>
        <p:spPr>
          <a:xfrm>
            <a:off x="877888" y="1563688"/>
            <a:ext cx="1873250" cy="330200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2000" b="1" kern="0" spc="-10">
                <a:solidFill>
                  <a:sysClr val="windowText" lastClr="000000"/>
                </a:solidFill>
                <a:latin typeface="Times New Roman"/>
                <a:cs typeface="Times New Roman"/>
              </a:rPr>
              <a:t>PSEUDOCODE:</a:t>
            </a:r>
            <a:endParaRPr sz="20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EE61B12-ED9F-AAD2-F792-1E2E5905C957}"/>
              </a:ext>
            </a:extLst>
          </p:cNvPr>
          <p:cNvSpPr txBox="1"/>
          <p:nvPr/>
        </p:nvSpPr>
        <p:spPr>
          <a:xfrm>
            <a:off x="924719" y="1960563"/>
            <a:ext cx="4124325" cy="4721805"/>
          </a:xfrm>
          <a:prstGeom prst="rect">
            <a:avLst/>
          </a:prstGeom>
        </p:spPr>
        <p:txBody>
          <a:bodyPr lIns="0" tIns="1270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Start</a:t>
            </a: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Load tremor dataset (CSV file)</a:t>
            </a: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Load trained SVM model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Load feature scaler</a:t>
            </a:r>
          </a:p>
          <a:p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Scale amplitude and frequency values</a:t>
            </a:r>
          </a:p>
          <a:p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Predict labels using SVM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Calculate model accuracy</a:t>
            </a: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Compute mean amplitude and frequency</a:t>
            </a:r>
          </a:p>
          <a:p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Use mean values for final prediction</a:t>
            </a: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Plot graph (Amplitude vs Frequency)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Display classification result</a:t>
            </a:r>
          </a:p>
          <a:p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End</a:t>
            </a:r>
          </a:p>
          <a:p>
            <a:pPr eaLnBrk="1" hangingPunct="1"/>
            <a:endParaRPr lang="en-US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E6F86C3-8F0E-6F08-4728-A9D73B449353}"/>
              </a:ext>
            </a:extLst>
          </p:cNvPr>
          <p:cNvSpPr txBox="1"/>
          <p:nvPr/>
        </p:nvSpPr>
        <p:spPr>
          <a:xfrm>
            <a:off x="6473825" y="1630363"/>
            <a:ext cx="1149350" cy="330200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2000" b="1" kern="0" spc="-15">
                <a:solidFill>
                  <a:sysClr val="windowText" lastClr="000000"/>
                </a:solidFill>
                <a:latin typeface="Times New Roman"/>
                <a:cs typeface="Times New Roman"/>
              </a:rPr>
              <a:t>OUTPUT:</a:t>
            </a:r>
            <a:endParaRPr sz="20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4B55E65A-B7A6-CD5A-9C6D-F729D395CCAD}"/>
              </a:ext>
            </a:extLst>
          </p:cNvPr>
          <p:cNvSpPr txBox="1">
            <a:spLocks/>
          </p:cNvSpPr>
          <p:nvPr/>
        </p:nvSpPr>
        <p:spPr>
          <a:xfrm>
            <a:off x="4070826" y="474287"/>
            <a:ext cx="3864610" cy="874598"/>
          </a:xfrm>
          <a:prstGeom prst="rect">
            <a:avLst/>
          </a:prstGeom>
        </p:spPr>
        <p:txBody>
          <a:bodyPr vert="horz" lIns="91440" tIns="1270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  <a:defRPr/>
            </a:pPr>
            <a:r>
              <a:rPr lang="en-IN"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MODULE</a:t>
            </a:r>
            <a:r>
              <a:rPr lang="en-IN" sz="2800" b="1" spc="-3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3 : OUTPUT</a:t>
            </a:r>
            <a:endParaRPr lang="en-IN" sz="2800" spc="-1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525313-4B80-43FB-8CF5-BF6CD8C9A3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3175" y="2088495"/>
            <a:ext cx="4185920" cy="2046742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4C02B6-9385-5BDD-A662-E0BE3E6574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3175" y="4321465"/>
            <a:ext cx="4185920" cy="2107802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410150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object 3">
            <a:extLst>
              <a:ext uri="{FF2B5EF4-FFF2-40B4-BE49-F238E27FC236}">
                <a16:creationId xmlns:a16="http://schemas.microsoft.com/office/drawing/2014/main" id="{30A2C232-8127-7532-5FFE-C09579270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347663"/>
            <a:ext cx="1135063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object 4">
            <a:extLst>
              <a:ext uri="{FF2B5EF4-FFF2-40B4-BE49-F238E27FC236}">
                <a16:creationId xmlns:a16="http://schemas.microsoft.com/office/drawing/2014/main" id="{0BE73FCB-F741-20AF-5650-F3B531673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0" y="482600"/>
            <a:ext cx="1519238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1D797840-D6F8-A8BF-AB53-ED715169DE80}"/>
              </a:ext>
            </a:extLst>
          </p:cNvPr>
          <p:cNvSpPr txBox="1"/>
          <p:nvPr/>
        </p:nvSpPr>
        <p:spPr>
          <a:xfrm>
            <a:off x="1111853" y="2279712"/>
            <a:ext cx="9414256" cy="3425553"/>
          </a:xfrm>
          <a:prstGeom prst="rect">
            <a:avLst/>
          </a:prstGeom>
        </p:spPr>
        <p:txBody>
          <a:bodyPr wrap="square" lIns="0" tIns="149860" rIns="0" bIns="0">
            <a:spAutoFit/>
          </a:bodyPr>
          <a:lstStyle>
            <a:lvl1pPr marL="263525" indent="-250825">
              <a:tabLst>
                <a:tab pos="2635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2635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2635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2635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2635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35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35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35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35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984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 proposed system successfully extracted tremor features such as amplitude and frequency using real-time hand landmark tracking with </a:t>
            </a:r>
            <a:r>
              <a:rPr lang="en-US" dirty="0" err="1">
                <a:latin typeface="Times" panose="02020603050405020304" pitchFamily="18" charset="0"/>
                <a:cs typeface="Times" panose="02020603050405020304" pitchFamily="18" charset="0"/>
              </a:rPr>
              <a:t>MediaPipe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pPr marL="2984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FFT-based analysis improved frequency estimation by focusing on the tremor band (2–8 Hz) and filtering voluntary movements for better accuracy.</a:t>
            </a:r>
          </a:p>
          <a:p>
            <a:pPr marL="2984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 generated dataset was clean and structured, enabling effective training of the Support Vector Machine (SVM) classifier.</a:t>
            </a:r>
          </a:p>
          <a:p>
            <a:pPr marL="2984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Overall, the integrated computer vision and SVM-based approach provides an efficient, low-cost, and contactless solution for early Parkinson’s risk screening.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3E7C8495-07D7-F3E5-6818-5BB7831C1F11}"/>
              </a:ext>
            </a:extLst>
          </p:cNvPr>
          <p:cNvSpPr txBox="1">
            <a:spLocks/>
          </p:cNvSpPr>
          <p:nvPr/>
        </p:nvSpPr>
        <p:spPr>
          <a:xfrm>
            <a:off x="4070826" y="474287"/>
            <a:ext cx="3864610" cy="874598"/>
          </a:xfrm>
          <a:prstGeom prst="rect">
            <a:avLst/>
          </a:prstGeom>
        </p:spPr>
        <p:txBody>
          <a:bodyPr vert="horz" lIns="91440" tIns="1270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  <a:defRPr/>
            </a:pPr>
            <a:r>
              <a:rPr lang="en-IN" sz="2800" b="1" spc="-3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      CONCLUSION</a:t>
            </a:r>
            <a:endParaRPr lang="en-IN" sz="2800" spc="-1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0E523F6-017F-2EB1-204B-3448411FD0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37793" y="927893"/>
            <a:ext cx="3316414" cy="452437"/>
          </a:xfrm>
        </p:spPr>
        <p:txBody>
          <a:bodyPr tIns="12700" rtlCol="0">
            <a:no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FUTURE</a:t>
            </a:r>
            <a:r>
              <a:rPr sz="2800" b="1" spc="-3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SCOPE</a:t>
            </a:r>
          </a:p>
        </p:txBody>
      </p:sp>
      <p:pic>
        <p:nvPicPr>
          <p:cNvPr id="14339" name="object 3">
            <a:extLst>
              <a:ext uri="{FF2B5EF4-FFF2-40B4-BE49-F238E27FC236}">
                <a16:creationId xmlns:a16="http://schemas.microsoft.com/office/drawing/2014/main" id="{6870413C-12E1-12E7-EB01-84CF32304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347663"/>
            <a:ext cx="1135063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object 4">
            <a:extLst>
              <a:ext uri="{FF2B5EF4-FFF2-40B4-BE49-F238E27FC236}">
                <a16:creationId xmlns:a16="http://schemas.microsoft.com/office/drawing/2014/main" id="{ACEE81EF-B7FF-3564-8CF7-C0D0B16D6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0" y="482600"/>
            <a:ext cx="1519238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ADB788DC-6FC6-D408-6215-8D7C657B9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6029" y="2081312"/>
            <a:ext cx="9339942" cy="2951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Extend the system to larger and more diverse tremor datasets for improved SVM classification accuracy.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Integrate real-time continuous monitoring to track tremor progression over time.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Combine additional features such as hand stability index, speed variation, and spiral drawing analysis for better prediction.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Develop a user-friendly clinical application for doctors to perform quick and contactless Parkinson’s screening.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AC19C-FE17-F9EB-702E-41F0E5CE1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17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1A6C3223-9E7C-38E9-569F-B7EFC44737DE}"/>
              </a:ext>
            </a:extLst>
          </p:cNvPr>
          <p:cNvSpPr/>
          <p:nvPr/>
        </p:nvSpPr>
        <p:spPr>
          <a:xfrm>
            <a:off x="395675" y="110443"/>
            <a:ext cx="1597816" cy="1403397"/>
          </a:xfrm>
          <a:custGeom>
            <a:avLst/>
            <a:gdLst/>
            <a:ahLst/>
            <a:cxnLst/>
            <a:rect l="l" t="t" r="r" b="b"/>
            <a:pathLst>
              <a:path w="1597816" h="1881872">
                <a:moveTo>
                  <a:pt x="0" y="0"/>
                </a:moveTo>
                <a:lnTo>
                  <a:pt x="1597816" y="0"/>
                </a:lnTo>
                <a:lnTo>
                  <a:pt x="1597816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C55CA333-7E44-88BB-77CD-5451CDFCFA35}"/>
              </a:ext>
            </a:extLst>
          </p:cNvPr>
          <p:cNvSpPr/>
          <p:nvPr/>
        </p:nvSpPr>
        <p:spPr>
          <a:xfrm>
            <a:off x="10139680" y="151096"/>
            <a:ext cx="1702550" cy="1464641"/>
          </a:xfrm>
          <a:custGeom>
            <a:avLst/>
            <a:gdLst/>
            <a:ahLst/>
            <a:cxnLst/>
            <a:rect l="l" t="t" r="r" b="b"/>
            <a:pathLst>
              <a:path w="2130421" h="1881872">
                <a:moveTo>
                  <a:pt x="0" y="0"/>
                </a:moveTo>
                <a:lnTo>
                  <a:pt x="2130421" y="0"/>
                </a:lnTo>
                <a:lnTo>
                  <a:pt x="2130421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4CF5E55-65F5-35F9-B799-AF55322025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54815"/>
            <a:ext cx="10305288" cy="476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Rao, P., &amp; Kulkarni, V. (2022). Vision-based hand tremor analysis for early Parkinson’s disease detection.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International Journal of Biomedical Engineering, 18(3), 145–156.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Verma, A., &amp; Singh, D. (2023). FFT-based tremor frequency analysis using video processing techniques.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Journal of Medical Signal Processing, 27(1), 34–42.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Chen, L., Zhang, Y., &amp; Wu, H. (2021). Support vector machine approach for Parkinson’s disease classification using motor features.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IEEE Transactions on Biomedical Engineering, 68(9), 2754–2762.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Ahmed, K., &amp; Thomas, J. (2020). Wearable sensor-based tremor quantification in Parkinson’s disease patients.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Sensors and Health Monitoring Journal, 14(4), 201–210.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Gupta, R., &amp; Nair, P. (2023). Real-time hand landmark tracking using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MediaPipe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for movement disorder assessment.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Journal of Computer Vision in Healthcare, 9(2), 78–88.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Martinez, J., &amp; Silva, R. (2022). Machine learning techniques for early-stage Parkinson’s disease screening.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Computational Neurology Review, 11(1), 52–63.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Li, X., &amp; Huang, M. (2021). Time-frequency analysis of pathological tremor using digital signal processing.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Biomedical Signal Analysis Journal, 35(6), 415–426.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Deshmukh, S., &amp; Patil, A. (2024). Comparative study of SVM and neural networks for Parkinson’s tremor classification.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International Journal of Artificial Intelligence in Medicine, 16(2), 119–130.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Johnson, T., &amp; Brown, E. (2022). Contactless movement disorder detection using computer vision techniques.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Healthcare Informatics Research, 28(3), 233–242.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Krishnan, R., &amp; Bose, S. (2023). Quantitative tremor amplitude and frequency measurement using camera-based systems.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Journal of Medical Imaging and Diagnostics, 19(4), 301–312.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8856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F5F29-5136-E357-6569-1064E3C80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2FA2F420-58C2-8F62-B472-9FF79DA1C6D7}"/>
              </a:ext>
            </a:extLst>
          </p:cNvPr>
          <p:cNvSpPr/>
          <p:nvPr/>
        </p:nvSpPr>
        <p:spPr>
          <a:xfrm>
            <a:off x="395675" y="110443"/>
            <a:ext cx="1597816" cy="1603717"/>
          </a:xfrm>
          <a:custGeom>
            <a:avLst/>
            <a:gdLst/>
            <a:ahLst/>
            <a:cxnLst/>
            <a:rect l="l" t="t" r="r" b="b"/>
            <a:pathLst>
              <a:path w="1597816" h="1881872">
                <a:moveTo>
                  <a:pt x="0" y="0"/>
                </a:moveTo>
                <a:lnTo>
                  <a:pt x="1597816" y="0"/>
                </a:lnTo>
                <a:lnTo>
                  <a:pt x="1597816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23C9A88-D711-E2D1-ED64-0C0E38627F67}"/>
              </a:ext>
            </a:extLst>
          </p:cNvPr>
          <p:cNvSpPr/>
          <p:nvPr/>
        </p:nvSpPr>
        <p:spPr>
          <a:xfrm>
            <a:off x="9576619" y="110442"/>
            <a:ext cx="1777181" cy="1603717"/>
          </a:xfrm>
          <a:custGeom>
            <a:avLst/>
            <a:gdLst/>
            <a:ahLst/>
            <a:cxnLst/>
            <a:rect l="l" t="t" r="r" b="b"/>
            <a:pathLst>
              <a:path w="2130421" h="1881872">
                <a:moveTo>
                  <a:pt x="0" y="0"/>
                </a:moveTo>
                <a:lnTo>
                  <a:pt x="2130421" y="0"/>
                </a:lnTo>
                <a:lnTo>
                  <a:pt x="2130421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1723FE-4241-FF6F-C262-44384E1256BC}"/>
              </a:ext>
            </a:extLst>
          </p:cNvPr>
          <p:cNvSpPr txBox="1"/>
          <p:nvPr/>
        </p:nvSpPr>
        <p:spPr>
          <a:xfrm>
            <a:off x="1466159" y="2791109"/>
            <a:ext cx="8748325" cy="1919756"/>
          </a:xfrm>
          <a:prstGeom prst="rect">
            <a:avLst/>
          </a:prstGeom>
          <a:noFill/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wrap="square">
            <a:prstTxWarp prst="textDeflateBottom">
              <a:avLst/>
            </a:prstTxWarp>
            <a:spAutoFit/>
          </a:bodyPr>
          <a:lstStyle/>
          <a:p>
            <a:pPr algn="ctr">
              <a:lnSpc>
                <a:spcPts val="15959"/>
              </a:lnSpc>
              <a:spcBef>
                <a:spcPct val="0"/>
              </a:spcBef>
            </a:pPr>
            <a:r>
              <a:rPr lang="en-US" sz="9600" b="1">
                <a:ln w="9525">
                  <a:solidFill>
                    <a:schemeClr val="bg1"/>
                  </a:solidFill>
                  <a:prstDash val="solid"/>
                </a:ln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588926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496</Words>
  <Application>Microsoft Office PowerPoint</Application>
  <PresentationFormat>Widescreen</PresentationFormat>
  <Paragraphs>46</Paragraphs>
  <Slides>18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ABSTRACT</vt:lpstr>
      <vt:lpstr>INTRODUCTION</vt:lpstr>
      <vt:lpstr>OBJECTIVE</vt:lpstr>
      <vt:lpstr>PowerPoint Presentation</vt:lpstr>
      <vt:lpstr>PowerPoint Presentation</vt:lpstr>
      <vt:lpstr>SYSTEM ARCHITTECTURE </vt:lpstr>
      <vt:lpstr>MODULE 1: Hand Tremor Detection and Landmark Tracking using mediapipe Framework</vt:lpstr>
      <vt:lpstr>MODULE 1 : OUTPUT</vt:lpstr>
      <vt:lpstr>MODULE 2: Quantitative tremor feature extraction and motion pattern analysis</vt:lpstr>
      <vt:lpstr>PowerPoint Presentation</vt:lpstr>
      <vt:lpstr>TREMOR DATASET</vt:lpstr>
      <vt:lpstr>MODULE 3: Parkinson’s disease classification using support vector machine (SVM)</vt:lpstr>
      <vt:lpstr>PowerPoint Presentation</vt:lpstr>
      <vt:lpstr>PowerPoint Presentation</vt:lpstr>
      <vt:lpstr>FUTURE SCOPE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A. Yuvan Charan</dc:creator>
  <cp:lastModifiedBy>A. Yuvan Charan</cp:lastModifiedBy>
  <cp:revision>2</cp:revision>
  <dcterms:created xsi:type="dcterms:W3CDTF">2026-02-11T03:49:47Z</dcterms:created>
  <dcterms:modified xsi:type="dcterms:W3CDTF">2026-02-17T10:56:59Z</dcterms:modified>
</cp:coreProperties>
</file>